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sldIdLst>
    <p:sldId id="256" r:id="rId2"/>
    <p:sldId id="275" r:id="rId3"/>
    <p:sldId id="258" r:id="rId4"/>
    <p:sldId id="264" r:id="rId5"/>
    <p:sldId id="265" r:id="rId6"/>
    <p:sldId id="266" r:id="rId7"/>
    <p:sldId id="281" r:id="rId8"/>
    <p:sldId id="259" r:id="rId9"/>
    <p:sldId id="261" r:id="rId10"/>
    <p:sldId id="268" r:id="rId11"/>
    <p:sldId id="262" r:id="rId12"/>
    <p:sldId id="263" r:id="rId13"/>
    <p:sldId id="260" r:id="rId14"/>
    <p:sldId id="267" r:id="rId15"/>
    <p:sldId id="269" r:id="rId16"/>
    <p:sldId id="270" r:id="rId17"/>
    <p:sldId id="273" r:id="rId18"/>
    <p:sldId id="276" r:id="rId19"/>
    <p:sldId id="277" r:id="rId20"/>
    <p:sldId id="278" r:id="rId21"/>
    <p:sldId id="279" r:id="rId22"/>
    <p:sldId id="274" r:id="rId23"/>
    <p:sldId id="282" r:id="rId24"/>
    <p:sldId id="272" r:id="rId25"/>
  </p:sldIdLst>
  <p:sldSz cx="12192000" cy="6858000"/>
  <p:notesSz cx="6858000" cy="9144000"/>
  <p:embeddedFontLst>
    <p:embeddedFont>
      <p:font typeface="Arial Nova Light" panose="020F0502020204030204" pitchFamily="34" charset="0"/>
      <p:regular r:id="rId26"/>
    </p:embeddedFont>
    <p:embeddedFont>
      <p:font typeface="Elephant" panose="02020904090505020303" pitchFamily="18" charset="0"/>
      <p:regular r:id="rId27"/>
      <p: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9960-406F-4187-A0E6-BD19C684039A}"/>
              </a:ext>
            </a:extLst>
          </p:cNvPr>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27E7FE-647D-4B2F-BA13-AB3ED4C5CF5A}"/>
              </a:ext>
            </a:extLst>
          </p:cNvPr>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A5EF785-E0A7-4496-A5BA-49B0156F2628}"/>
              </a:ext>
            </a:extLst>
          </p:cNvPr>
          <p:cNvSpPr>
            <a:spLocks noGrp="1"/>
          </p:cNvSpPr>
          <p:nvPr>
            <p:ph type="dt" sz="half" idx="10"/>
          </p:nvPr>
        </p:nvSpPr>
        <p:spPr>
          <a:xfrm>
            <a:off x="8964706" y="6433202"/>
            <a:ext cx="2426446" cy="367841"/>
          </a:xfrm>
        </p:spPr>
        <p:txBody>
          <a:bodyPr/>
          <a:lstStyle/>
          <a:p>
            <a:fld id="{32637B58-87C1-446D-BDA9-B06F4BCF7782}" type="datetimeFigureOut">
              <a:rPr lang="en-US" smtClean="0"/>
              <a:t>4/12/2026</a:t>
            </a:fld>
            <a:endParaRPr lang="en-US"/>
          </a:p>
        </p:txBody>
      </p:sp>
      <p:sp>
        <p:nvSpPr>
          <p:cNvPr id="5" name="Footer Placeholder 4">
            <a:extLst>
              <a:ext uri="{FF2B5EF4-FFF2-40B4-BE49-F238E27FC236}">
                <a16:creationId xmlns:a16="http://schemas.microsoft.com/office/drawing/2014/main" id="{4742C627-38A1-4A14-8822-D8D33751CA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EBE346-5F34-48CD-8928-DA8567AEDD15}"/>
              </a:ext>
            </a:extLst>
          </p:cNvPr>
          <p:cNvSpPr>
            <a:spLocks noGrp="1"/>
          </p:cNvSpPr>
          <p:nvPr>
            <p:ph type="sldNum" sz="quarter" idx="12"/>
          </p:nvPr>
        </p:nvSpPr>
        <p:spPr>
          <a:xfrm>
            <a:off x="11391152" y="6433203"/>
            <a:ext cx="702781" cy="367842"/>
          </a:xfrm>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4263708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839C-7D7A-49F1-8BFE-85C6C7D78BE7}"/>
              </a:ext>
            </a:extLst>
          </p:cNvPr>
          <p:cNvSpPr>
            <a:spLocks noGrp="1"/>
          </p:cNvSpPr>
          <p:nvPr>
            <p:ph type="title"/>
          </p:nvPr>
        </p:nvSpPr>
        <p:spPr>
          <a:xfrm>
            <a:off x="905256" y="590668"/>
            <a:ext cx="9914859" cy="1329004"/>
          </a:xfrm>
        </p:spPr>
        <p:txBody>
          <a:bodyPr>
            <a:normAutofit/>
          </a:bodyPr>
          <a:lstStyle>
            <a:lvl1pPr>
              <a:lnSpc>
                <a:spcPct val="100000"/>
              </a:lnSpc>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7E748DC-EBB9-44C6-8566-38F87FF7FD53}"/>
              </a:ext>
            </a:extLst>
          </p:cNvPr>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1"/>
                </a:solidFill>
              </a:defRPr>
            </a:lvl1pPr>
          </a:lstStyle>
          <a:p>
            <a:fld id="{32637B58-87C1-446D-BDA9-B06F4BCF7782}" type="datetimeFigureOut">
              <a:rPr lang="en-US" smtClean="0"/>
              <a:t>4/12/2026</a:t>
            </a:fld>
            <a:endParaRPr lang="en-US"/>
          </a:p>
        </p:txBody>
      </p:sp>
      <p:sp>
        <p:nvSpPr>
          <p:cNvPr id="5" name="Footer Placeholder 4">
            <a:extLst>
              <a:ext uri="{FF2B5EF4-FFF2-40B4-BE49-F238E27FC236}">
                <a16:creationId xmlns:a16="http://schemas.microsoft.com/office/drawing/2014/main" id="{BFA2F5AB-D8C6-4AE1-8FAE-CD0499CB6D03}"/>
              </a:ext>
            </a:extLst>
          </p:cNvPr>
          <p:cNvSpPr>
            <a:spLocks noGrp="1"/>
          </p:cNvSpPr>
          <p:nvPr>
            <p:ph type="ftr" sz="quarter" idx="11"/>
          </p:nvPr>
        </p:nvSpPr>
        <p:spPr>
          <a:xfrm>
            <a:off x="173736" y="6437376"/>
            <a:ext cx="3775914" cy="365125"/>
          </a:xfrm>
        </p:spPr>
        <p:txBody>
          <a:bodyPr/>
          <a:lstStyle>
            <a:lvl1pPr algn="l">
              <a:defRPr>
                <a:solidFill>
                  <a:schemeClr val="accent2"/>
                </a:solidFill>
              </a:defRPr>
            </a:lvl1pPr>
          </a:lstStyle>
          <a:p>
            <a:endParaRPr lang="en-US" dirty="0"/>
          </a:p>
        </p:txBody>
      </p:sp>
      <p:sp>
        <p:nvSpPr>
          <p:cNvPr id="6" name="Slide Number Placeholder 5">
            <a:extLst>
              <a:ext uri="{FF2B5EF4-FFF2-40B4-BE49-F238E27FC236}">
                <a16:creationId xmlns:a16="http://schemas.microsoft.com/office/drawing/2014/main"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1"/>
                </a:solidFill>
              </a:defRPr>
            </a:lvl1pPr>
          </a:lstStyle>
          <a:p>
            <a:fld id="{08AB70BE-1769-45B8-85A6-0C837432C7E6}" type="slidenum">
              <a:rPr lang="en-US" smtClean="0"/>
              <a:t>‹#›</a:t>
            </a:fld>
            <a:endParaRPr lang="en-US"/>
          </a:p>
        </p:txBody>
      </p:sp>
    </p:spTree>
    <p:extLst>
      <p:ext uri="{BB962C8B-B14F-4D97-AF65-F5344CB8AC3E}">
        <p14:creationId xmlns:p14="http://schemas.microsoft.com/office/powerpoint/2010/main" val="346954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8A94B-011C-4B13-8C12-E91BF7A40087}"/>
              </a:ext>
            </a:extLst>
          </p:cNvPr>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716D5F3-887C-4A8F-842A-0294A9FB0818}"/>
              </a:ext>
            </a:extLst>
          </p:cNvPr>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4588B-131A-42F3-B76C-62BD65E4806B}"/>
              </a:ext>
            </a:extLst>
          </p:cNvPr>
          <p:cNvSpPr>
            <a:spLocks noGrp="1"/>
          </p:cNvSpPr>
          <p:nvPr>
            <p:ph type="dt" sz="half" idx="10"/>
          </p:nvPr>
        </p:nvSpPr>
        <p:spPr/>
        <p:txBody>
          <a:bodyPr/>
          <a:lstStyle/>
          <a:p>
            <a:fld id="{32637B58-87C1-446D-BDA9-B06F4BCF7782}" type="datetimeFigureOut">
              <a:rPr lang="en-US" smtClean="0"/>
              <a:t>4/12/2026</a:t>
            </a:fld>
            <a:endParaRPr lang="en-US"/>
          </a:p>
        </p:txBody>
      </p:sp>
      <p:sp>
        <p:nvSpPr>
          <p:cNvPr id="5" name="Footer Placeholder 4">
            <a:extLst>
              <a:ext uri="{FF2B5EF4-FFF2-40B4-BE49-F238E27FC236}">
                <a16:creationId xmlns:a16="http://schemas.microsoft.com/office/drawing/2014/main" id="{E111AB28-20BD-4CD8-9840-985C3EDBA1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3C85C-3801-46F0-A100-616F5F2F82E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4110016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CB06-0454-4BF1-8011-F8B1A9595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920A70-D33B-4461-B74C-3F59ADB16141}"/>
              </a:ext>
            </a:extLst>
          </p:cNvPr>
          <p:cNvSpPr>
            <a:spLocks noGrp="1"/>
          </p:cNvSpPr>
          <p:nvPr>
            <p:ph sz="half" idx="1"/>
          </p:nvPr>
        </p:nvSpPr>
        <p:spPr>
          <a:xfrm>
            <a:off x="1408813" y="2163725"/>
            <a:ext cx="4610986" cy="4013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881BDF9-836E-431C-8EFA-417A9BEE9F4B}"/>
              </a:ext>
            </a:extLst>
          </p:cNvPr>
          <p:cNvSpPr>
            <a:spLocks noGrp="1"/>
          </p:cNvSpPr>
          <p:nvPr>
            <p:ph sz="half" idx="2"/>
          </p:nvPr>
        </p:nvSpPr>
        <p:spPr>
          <a:xfrm>
            <a:off x="6257260" y="2163725"/>
            <a:ext cx="4853763" cy="401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7CBD9F59-B591-4E2F-899E-3CA78CE82D45}"/>
              </a:ext>
            </a:extLst>
          </p:cNvPr>
          <p:cNvSpPr>
            <a:spLocks noGrp="1"/>
          </p:cNvSpPr>
          <p:nvPr>
            <p:ph type="dt" sz="half" idx="10"/>
          </p:nvPr>
        </p:nvSpPr>
        <p:spPr/>
        <p:txBody>
          <a:bodyPr/>
          <a:lstStyle/>
          <a:p>
            <a:fld id="{32637B58-87C1-446D-BDA9-B06F4BCF7782}" type="datetimeFigureOut">
              <a:rPr lang="en-US" smtClean="0"/>
              <a:t>4/12/2026</a:t>
            </a:fld>
            <a:endParaRPr lang="en-US"/>
          </a:p>
        </p:txBody>
      </p:sp>
      <p:sp>
        <p:nvSpPr>
          <p:cNvPr id="6" name="Footer Placeholder 5">
            <a:extLst>
              <a:ext uri="{FF2B5EF4-FFF2-40B4-BE49-F238E27FC236}">
                <a16:creationId xmlns:a16="http://schemas.microsoft.com/office/drawing/2014/main" id="{046CFD12-B3EC-432C-B264-8AB571CAAF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F3CBBA-71B3-4857-80E7-525E89FD903F}"/>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2212128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1886-4F39-4E3E-948D-DBC73F267AED}"/>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B2C7B2A-B6BE-46FD-9278-A5246BF7EEB8}"/>
              </a:ext>
            </a:extLst>
          </p:cNvPr>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E85295-E4B5-4D75-954F-B07A2F4CABF8}"/>
              </a:ext>
            </a:extLst>
          </p:cNvPr>
          <p:cNvSpPr>
            <a:spLocks noGrp="1"/>
          </p:cNvSpPr>
          <p:nvPr>
            <p:ph sz="half" idx="2"/>
          </p:nvPr>
        </p:nvSpPr>
        <p:spPr>
          <a:xfrm>
            <a:off x="839788" y="2635623"/>
            <a:ext cx="5157787" cy="3554039"/>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87ABF0-C78D-4589-8FA5-0D6238B4B084}"/>
              </a:ext>
            </a:extLst>
          </p:cNvPr>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A4064-2E0A-4FC3-837B-14EC0EF3A652}"/>
              </a:ext>
            </a:extLst>
          </p:cNvPr>
          <p:cNvSpPr>
            <a:spLocks noGrp="1"/>
          </p:cNvSpPr>
          <p:nvPr>
            <p:ph sz="quarter" idx="4"/>
          </p:nvPr>
        </p:nvSpPr>
        <p:spPr>
          <a:xfrm>
            <a:off x="6172200" y="2635623"/>
            <a:ext cx="5183188" cy="355404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8E3C169-8D29-4CC4-9581-748178F3C00A}"/>
              </a:ext>
            </a:extLst>
          </p:cNvPr>
          <p:cNvSpPr>
            <a:spLocks noGrp="1"/>
          </p:cNvSpPr>
          <p:nvPr>
            <p:ph type="dt" sz="half" idx="10"/>
          </p:nvPr>
        </p:nvSpPr>
        <p:spPr/>
        <p:txBody>
          <a:bodyPr/>
          <a:lstStyle/>
          <a:p>
            <a:fld id="{32637B58-87C1-446D-BDA9-B06F4BCF7782}" type="datetimeFigureOut">
              <a:rPr lang="en-US" smtClean="0"/>
              <a:t>4/12/2026</a:t>
            </a:fld>
            <a:endParaRPr lang="en-US"/>
          </a:p>
        </p:txBody>
      </p:sp>
      <p:sp>
        <p:nvSpPr>
          <p:cNvPr id="8" name="Footer Placeholder 7">
            <a:extLst>
              <a:ext uri="{FF2B5EF4-FFF2-40B4-BE49-F238E27FC236}">
                <a16:creationId xmlns:a16="http://schemas.microsoft.com/office/drawing/2014/main" id="{F14EC709-AAD9-475C-AC6A-943A8E872A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0C0E3E-587D-46EB-AAF5-011C137B030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1695568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E062-B7F5-4D30-B416-1BBB4A7D0F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BDFF7A-EBD3-4FEB-8451-5D7355069117}"/>
              </a:ext>
            </a:extLst>
          </p:cNvPr>
          <p:cNvSpPr>
            <a:spLocks noGrp="1"/>
          </p:cNvSpPr>
          <p:nvPr>
            <p:ph type="dt" sz="half" idx="10"/>
          </p:nvPr>
        </p:nvSpPr>
        <p:spPr/>
        <p:txBody>
          <a:bodyPr/>
          <a:lstStyle/>
          <a:p>
            <a:fld id="{32637B58-87C1-446D-BDA9-B06F4BCF7782}" type="datetimeFigureOut">
              <a:rPr lang="en-US" smtClean="0"/>
              <a:t>4/12/2026</a:t>
            </a:fld>
            <a:endParaRPr lang="en-US"/>
          </a:p>
        </p:txBody>
      </p:sp>
      <p:sp>
        <p:nvSpPr>
          <p:cNvPr id="4" name="Footer Placeholder 3">
            <a:extLst>
              <a:ext uri="{FF2B5EF4-FFF2-40B4-BE49-F238E27FC236}">
                <a16:creationId xmlns:a16="http://schemas.microsoft.com/office/drawing/2014/main" id="{08F54A2D-2C4B-4E1D-AC16-E3B1F1DDB5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11F373-DB96-4AEA-8E3E-7EDEA213DEEC}"/>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521571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p>
            <a:fld id="{32637B58-87C1-446D-BDA9-B06F4BCF7782}" type="datetimeFigureOut">
              <a:rPr lang="en-US" smtClean="0"/>
              <a:t>4/12/2026</a:t>
            </a:fld>
            <a:endParaRPr lang="en-US"/>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3733828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9F8C-8071-4BE5-AD6F-C98F481D1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4135B3-14BA-4A88-B6B3-88B77B1C6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7C3A4D-5B69-44B4-B17F-770E83F00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1C41D-2A59-4512-8034-6DB705787D78}"/>
              </a:ext>
            </a:extLst>
          </p:cNvPr>
          <p:cNvSpPr>
            <a:spLocks noGrp="1"/>
          </p:cNvSpPr>
          <p:nvPr>
            <p:ph type="dt" sz="half" idx="10"/>
          </p:nvPr>
        </p:nvSpPr>
        <p:spPr/>
        <p:txBody>
          <a:bodyPr/>
          <a:lstStyle/>
          <a:p>
            <a:fld id="{32637B58-87C1-446D-BDA9-B06F4BCF7782}" type="datetimeFigureOut">
              <a:rPr lang="en-US" smtClean="0"/>
              <a:t>4/12/2026</a:t>
            </a:fld>
            <a:endParaRPr lang="en-US"/>
          </a:p>
        </p:txBody>
      </p:sp>
      <p:sp>
        <p:nvSpPr>
          <p:cNvPr id="6" name="Footer Placeholder 5">
            <a:extLst>
              <a:ext uri="{FF2B5EF4-FFF2-40B4-BE49-F238E27FC236}">
                <a16:creationId xmlns:a16="http://schemas.microsoft.com/office/drawing/2014/main" id="{BD85C494-778C-4EE6-9402-242E1CDD9A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5677B9-C338-4033-9AFE-B8B81C5D813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977714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77DE-4C2E-476F-A419-57470FB6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9FD1A0-93AE-469A-ADDF-2453B64CA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C119C9C-EF97-4910-9419-6D7202609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A87172-A64E-4C38-82ED-2A7050B0FB68}"/>
              </a:ext>
            </a:extLst>
          </p:cNvPr>
          <p:cNvSpPr>
            <a:spLocks noGrp="1"/>
          </p:cNvSpPr>
          <p:nvPr>
            <p:ph type="dt" sz="half" idx="10"/>
          </p:nvPr>
        </p:nvSpPr>
        <p:spPr/>
        <p:txBody>
          <a:bodyPr/>
          <a:lstStyle/>
          <a:p>
            <a:fld id="{32637B58-87C1-446D-BDA9-B06F4BCF7782}" type="datetimeFigureOut">
              <a:rPr lang="en-US" smtClean="0"/>
              <a:t>4/12/2026</a:t>
            </a:fld>
            <a:endParaRPr lang="en-US"/>
          </a:p>
        </p:txBody>
      </p:sp>
      <p:sp>
        <p:nvSpPr>
          <p:cNvPr id="6" name="Footer Placeholder 5">
            <a:extLst>
              <a:ext uri="{FF2B5EF4-FFF2-40B4-BE49-F238E27FC236}">
                <a16:creationId xmlns:a16="http://schemas.microsoft.com/office/drawing/2014/main" id="{BC0C3E24-28E2-4512-BEA0-DAEC5E846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F04F0D-DA84-434D-B136-BEE9FD80AB95}"/>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647360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05F0-2B44-47BC-86B3-58E2C70806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A5B5DA-7628-4AC1-8EAE-5010C2A98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A4E7C3-7830-49F3-9F45-4B2F2B4CAC93}"/>
              </a:ext>
            </a:extLst>
          </p:cNvPr>
          <p:cNvSpPr>
            <a:spLocks noGrp="1"/>
          </p:cNvSpPr>
          <p:nvPr>
            <p:ph type="dt" sz="half" idx="10"/>
          </p:nvPr>
        </p:nvSpPr>
        <p:spPr/>
        <p:txBody>
          <a:bodyPr/>
          <a:lstStyle/>
          <a:p>
            <a:fld id="{32637B58-87C1-446D-BDA9-B06F4BCF7782}" type="datetimeFigureOut">
              <a:rPr lang="en-US" smtClean="0"/>
              <a:t>4/12/2026</a:t>
            </a:fld>
            <a:endParaRPr lang="en-US"/>
          </a:p>
        </p:txBody>
      </p:sp>
      <p:sp>
        <p:nvSpPr>
          <p:cNvPr id="5" name="Footer Placeholder 4">
            <a:extLst>
              <a:ext uri="{FF2B5EF4-FFF2-40B4-BE49-F238E27FC236}">
                <a16:creationId xmlns:a16="http://schemas.microsoft.com/office/drawing/2014/main" id="{1845E328-AD12-449C-BE6E-76DF005E86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0F374F-390D-49D8-A7C8-5BEFA3532345}"/>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320054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50F530-2925-4F98-89EC-95C2EC4769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A79366-3281-483D-8731-0D01B2B24A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5ED8B2-BE7F-4417-8A8A-A95C8BB70827}"/>
              </a:ext>
            </a:extLst>
          </p:cNvPr>
          <p:cNvSpPr>
            <a:spLocks noGrp="1"/>
          </p:cNvSpPr>
          <p:nvPr>
            <p:ph type="dt" sz="half" idx="10"/>
          </p:nvPr>
        </p:nvSpPr>
        <p:spPr/>
        <p:txBody>
          <a:bodyPr/>
          <a:lstStyle/>
          <a:p>
            <a:fld id="{32637B58-87C1-446D-BDA9-B06F4BCF7782}" type="datetimeFigureOut">
              <a:rPr lang="en-US" smtClean="0"/>
              <a:t>4/12/2026</a:t>
            </a:fld>
            <a:endParaRPr lang="en-US"/>
          </a:p>
        </p:txBody>
      </p:sp>
      <p:sp>
        <p:nvSpPr>
          <p:cNvPr id="5" name="Footer Placeholder 4">
            <a:extLst>
              <a:ext uri="{FF2B5EF4-FFF2-40B4-BE49-F238E27FC236}">
                <a16:creationId xmlns:a16="http://schemas.microsoft.com/office/drawing/2014/main" id="{A01A0D96-671F-4A85-89C6-946624CB1E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5BA434-2E32-4719-B45C-0490D685265D}"/>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1825869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7A08E557-10DB-421A-876E-1AE58F8E07C4}"/>
              </a:ext>
            </a:extLst>
          </p:cNvPr>
          <p:cNvSpPr/>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ooter Placeholder 4">
            <a:extLst>
              <a:ext uri="{FF2B5EF4-FFF2-40B4-BE49-F238E27FC236}">
                <a16:creationId xmlns:a16="http://schemas.microsoft.com/office/drawing/2014/main" id="{EC2EBCA0-8609-4F35-8CA7-7AD35FDACD73}"/>
              </a:ext>
            </a:extLst>
          </p:cNvPr>
          <p:cNvSpPr>
            <a:spLocks noGrp="1"/>
          </p:cNvSpPr>
          <p:nvPr>
            <p:ph type="ftr" sz="quarter" idx="3"/>
          </p:nvPr>
        </p:nvSpPr>
        <p:spPr>
          <a:xfrm>
            <a:off x="175613" y="6434560"/>
            <a:ext cx="3428012" cy="365125"/>
          </a:xfrm>
          <a:prstGeom prst="rect">
            <a:avLst/>
          </a:prstGeom>
        </p:spPr>
        <p:txBody>
          <a:bodyPr vert="horz" lIns="91440" tIns="45720" rIns="91440" bIns="45720" rtlCol="0" anchor="ctr"/>
          <a:lstStyle>
            <a:lvl1pPr algn="l">
              <a:defRPr sz="1050" spc="50" baseline="0">
                <a:solidFill>
                  <a:schemeClr val="accent2"/>
                </a:solidFill>
                <a:latin typeface="+mn-lt"/>
              </a:defRPr>
            </a:lvl1pPr>
          </a:lstStyle>
          <a:p>
            <a:endParaRPr lang="en-US"/>
          </a:p>
        </p:txBody>
      </p:sp>
      <p:sp>
        <p:nvSpPr>
          <p:cNvPr id="2" name="Title Placeholder 1">
            <a:extLst>
              <a:ext uri="{FF2B5EF4-FFF2-40B4-BE49-F238E27FC236}">
                <a16:creationId xmlns:a16="http://schemas.microsoft.com/office/drawing/2014/main" id="{BFDA9639-38D2-4CD4-A861-F6B4C6CB99BD}"/>
              </a:ext>
            </a:extLst>
          </p:cNvPr>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DAF00B1-16C1-47B3-A7A0-B71468312896}"/>
              </a:ext>
            </a:extLst>
          </p:cNvPr>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BCF9501-5B6B-4DAF-B59D-3C129ED805AC}"/>
              </a:ext>
            </a:extLst>
          </p:cNvPr>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fld id="{32637B58-87C1-446D-BDA9-B06F4BCF7782}" type="datetimeFigureOut">
              <a:rPr lang="en-US" smtClean="0"/>
              <a:pPr/>
              <a:t>4/12/2026</a:t>
            </a:fld>
            <a:endParaRPr lang="en-US" dirty="0"/>
          </a:p>
        </p:txBody>
      </p:sp>
      <p:sp>
        <p:nvSpPr>
          <p:cNvPr id="6" name="Slide Number Placeholder 5">
            <a:extLst>
              <a:ext uri="{FF2B5EF4-FFF2-40B4-BE49-F238E27FC236}">
                <a16:creationId xmlns:a16="http://schemas.microsoft.com/office/drawing/2014/main" id="{37685DBD-B7AE-41D8-8CF1-B21CD58E1B45}"/>
              </a:ext>
            </a:extLst>
          </p:cNvPr>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pPr/>
              <a:t>‹#›</a:t>
            </a:fld>
            <a:endParaRPr lang="en-US"/>
          </a:p>
        </p:txBody>
      </p:sp>
    </p:spTree>
    <p:extLst>
      <p:ext uri="{BB962C8B-B14F-4D97-AF65-F5344CB8AC3E}">
        <p14:creationId xmlns:p14="http://schemas.microsoft.com/office/powerpoint/2010/main" val="33776325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736">
          <p15:clr>
            <a:srgbClr val="F26B43"/>
          </p15:clr>
        </p15:guide>
        <p15:guide id="4" orient="horz" pos="3312">
          <p15:clr>
            <a:srgbClr val="F26B43"/>
          </p15:clr>
        </p15:guide>
        <p15:guide id="5" orient="horz" pos="432">
          <p15:clr>
            <a:srgbClr val="F26B43"/>
          </p15:clr>
        </p15:guide>
        <p15:guide id="7" pos="4416">
          <p15:clr>
            <a:srgbClr val="F26B43"/>
          </p15:clr>
        </p15:guide>
        <p15:guide id="8" pos="5568">
          <p15:clr>
            <a:srgbClr val="F26B43"/>
          </p15:clr>
        </p15:guide>
        <p15:guide id="9" pos="7296">
          <p15:clr>
            <a:srgbClr val="F26B43"/>
          </p15:clr>
        </p15:guide>
        <p15:guide id="10" pos="2688">
          <p15:clr>
            <a:srgbClr val="F26B43"/>
          </p15:clr>
        </p15:guide>
        <p15:guide id="11" pos="1536">
          <p15:clr>
            <a:srgbClr val="F26B43"/>
          </p15:clr>
        </p15:guide>
        <p15:guide id="12" pos="384">
          <p15:clr>
            <a:srgbClr val="F26B43"/>
          </p15:clr>
        </p15:guide>
        <p15:guide id="13" pos="2112">
          <p15:clr>
            <a:srgbClr val="F26B43"/>
          </p15:clr>
        </p15:guide>
        <p15:guide id="14" pos="4992">
          <p15:clr>
            <a:srgbClr val="F26B43"/>
          </p15:clr>
        </p15:guide>
        <p15:guide id="15" pos="6720">
          <p15:clr>
            <a:srgbClr val="F26B43"/>
          </p15:clr>
        </p15:guide>
        <p15:guide id="16" pos="960">
          <p15:clr>
            <a:srgbClr val="F26B43"/>
          </p15:clr>
        </p15:guide>
        <p15:guide id="17" pos="3264">
          <p15:clr>
            <a:srgbClr val="F26B43"/>
          </p15:clr>
        </p15:guide>
        <p15:guide id="18" orient="horz" pos="1008">
          <p15:clr>
            <a:srgbClr val="F26B43"/>
          </p15:clr>
        </p15:guide>
        <p15:guide id="19" orient="horz" pos="3888">
          <p15:clr>
            <a:srgbClr val="F26B43"/>
          </p15:clr>
        </p15:guide>
        <p15:guide id="20" pos="6144">
          <p15:clr>
            <a:srgbClr val="F26B43"/>
          </p15:clr>
        </p15:guide>
        <p15:guide id="21" orient="horz" pos="1584">
          <p15:clr>
            <a:srgbClr val="F26B43"/>
          </p15:clr>
        </p15:guide>
        <p15:guide id="22" pos="576">
          <p15:clr>
            <a:srgbClr val="F26B43"/>
          </p15:clr>
        </p15:guide>
        <p15:guide id="23" pos="7104">
          <p15:clr>
            <a:srgbClr val="F26B43"/>
          </p15:clr>
        </p15:guide>
        <p15:guide id="24" pos="768">
          <p15:clr>
            <a:srgbClr val="F26B43"/>
          </p15:clr>
        </p15:guide>
        <p15:guide id="25" pos="691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researchgate.net/publication/334273741" TargetMode="External"/><Relationship Id="rId2" Type="http://schemas.openxmlformats.org/officeDocument/2006/relationships/hyperlink" Target="https://ieeexplore.ieee.org/document/8463313" TargetMode="External"/><Relationship Id="rId1" Type="http://schemas.openxmlformats.org/officeDocument/2006/relationships/slideLayout" Target="../slideLayouts/slideLayout2.xml"/><Relationship Id="rId6" Type="http://schemas.openxmlformats.org/officeDocument/2006/relationships/hyperlink" Target="https://www.sciencedirect.com/science/article/pii/S187705092100561X" TargetMode="External"/><Relationship Id="rId5" Type="http://schemas.openxmlformats.org/officeDocument/2006/relationships/hyperlink" Target="https://www.sciencedirect.com/science/article/pii/S1877050920304865" TargetMode="External"/><Relationship Id="rId4" Type="http://schemas.openxmlformats.org/officeDocument/2006/relationships/hyperlink" Target="https://dl.acm.org/doi/10.1145/3386527.3405940"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0AA9F-DEDB-C637-C66D-DC3143D44AC1}"/>
              </a:ext>
            </a:extLst>
          </p:cNvPr>
          <p:cNvSpPr>
            <a:spLocks noGrp="1"/>
          </p:cNvSpPr>
          <p:nvPr>
            <p:ph type="ctrTitle"/>
          </p:nvPr>
        </p:nvSpPr>
        <p:spPr>
          <a:xfrm>
            <a:off x="1686233" y="1946787"/>
            <a:ext cx="10132139" cy="1386348"/>
          </a:xfrm>
        </p:spPr>
        <p:txBody>
          <a:bodyPr>
            <a:normAutofit fontScale="90000"/>
          </a:bodyPr>
          <a:lstStyle/>
          <a:p>
            <a:br>
              <a:rPr lang="en-US" sz="3100" b="1" dirty="0">
                <a:solidFill>
                  <a:schemeClr val="tx1"/>
                </a:solidFill>
                <a:latin typeface="Times New Roman" panose="02020603050405020304" pitchFamily="18" charset="0"/>
                <a:cs typeface="Times New Roman" panose="02020603050405020304" pitchFamily="18" charset="0"/>
              </a:rPr>
            </a:br>
            <a:br>
              <a:rPr lang="en-US" sz="3100" b="1" dirty="0">
                <a:solidFill>
                  <a:schemeClr val="tx1"/>
                </a:solidFill>
                <a:latin typeface="Times New Roman" panose="02020603050405020304" pitchFamily="18" charset="0"/>
                <a:cs typeface="Times New Roman" panose="02020603050405020304" pitchFamily="18" charset="0"/>
              </a:rPr>
            </a:br>
            <a:br>
              <a:rPr lang="en-US" sz="3100" b="1" dirty="0">
                <a:solidFill>
                  <a:schemeClr val="tx1"/>
                </a:solidFill>
                <a:latin typeface="Times New Roman" panose="02020603050405020304" pitchFamily="18" charset="0"/>
                <a:cs typeface="Times New Roman" panose="02020603050405020304" pitchFamily="18" charset="0"/>
              </a:rPr>
            </a:br>
            <a:r>
              <a:rPr lang="en-US" sz="3100" b="1" dirty="0">
                <a:solidFill>
                  <a:schemeClr val="tx1"/>
                </a:solidFill>
                <a:latin typeface="Times New Roman" panose="02020603050405020304" pitchFamily="18" charset="0"/>
                <a:cs typeface="Times New Roman" panose="02020603050405020304" pitchFamily="18" charset="0"/>
              </a:rPr>
              <a:t>VIGNAN'S INSTITUTE OF MANAGEMENT AND TECHNOLOGY FOR WOMEN</a:t>
            </a:r>
            <a:br>
              <a:rPr lang="en-US" sz="3100" b="1" dirty="0">
                <a:solidFill>
                  <a:schemeClr val="tx1"/>
                </a:solidFill>
                <a:latin typeface="Times New Roman" panose="02020603050405020304" pitchFamily="18" charset="0"/>
                <a:cs typeface="Times New Roman" panose="02020603050405020304" pitchFamily="18" charset="0"/>
              </a:rPr>
            </a:br>
            <a:r>
              <a:rPr lang="en-IN" sz="3100" b="1" dirty="0">
                <a:solidFill>
                  <a:schemeClr val="tx1"/>
                </a:solidFill>
                <a:latin typeface="Times New Roman" panose="02020603050405020304" pitchFamily="18" charset="0"/>
                <a:cs typeface="Times New Roman" panose="02020603050405020304" pitchFamily="18" charset="0"/>
              </a:rPr>
              <a:t>                Department of CSE(AI&amp;ML)</a:t>
            </a:r>
            <a:br>
              <a:rPr lang="en-IN" sz="3100" b="1" dirty="0">
                <a:solidFill>
                  <a:schemeClr val="tx1"/>
                </a:solidFill>
                <a:latin typeface="Times New Roman" panose="02020603050405020304" pitchFamily="18" charset="0"/>
                <a:cs typeface="Times New Roman" panose="02020603050405020304" pitchFamily="18" charset="0"/>
              </a:rPr>
            </a:br>
            <a:br>
              <a:rPr lang="en-IN" sz="3200" b="1" dirty="0">
                <a:solidFill>
                  <a:schemeClr val="tx1"/>
                </a:solidFill>
                <a:latin typeface="Times New Roman" panose="02020603050405020304" charset="0"/>
                <a:cs typeface="Times New Roman" panose="02020603050405020304" charset="0"/>
              </a:rPr>
            </a:br>
            <a:r>
              <a:rPr lang="en-IN" sz="3200" b="1" dirty="0">
                <a:solidFill>
                  <a:schemeClr val="tx1"/>
                </a:solidFill>
                <a:latin typeface="Times New Roman" panose="02020603050405020304" charset="0"/>
                <a:cs typeface="Times New Roman" panose="02020603050405020304" charset="0"/>
              </a:rPr>
              <a:t>Project Title: Multi-College Students Interaction and Chatbot </a:t>
            </a: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1951816-B071-7DB0-019F-65A4FF6BF6F3}"/>
              </a:ext>
            </a:extLst>
          </p:cNvPr>
          <p:cNvSpPr>
            <a:spLocks noGrp="1"/>
          </p:cNvSpPr>
          <p:nvPr>
            <p:ph type="subTitle" idx="1"/>
          </p:nvPr>
        </p:nvSpPr>
        <p:spPr>
          <a:xfrm>
            <a:off x="1249327" y="4090219"/>
            <a:ext cx="3686468" cy="1976283"/>
          </a:xfrm>
        </p:spPr>
        <p:txBody>
          <a:bodyPr>
            <a:noAutofit/>
          </a:bodyPr>
          <a:lstStyle/>
          <a:p>
            <a:r>
              <a:rPr lang="en-US" sz="1800" spc="0" dirty="0">
                <a:latin typeface="Times New Roman" panose="02020603050405020304" pitchFamily="18" charset="0"/>
                <a:cs typeface="Times New Roman" panose="02020603050405020304" pitchFamily="18" charset="0"/>
              </a:rPr>
              <a:t>Team mates: </a:t>
            </a:r>
          </a:p>
          <a:p>
            <a:r>
              <a:rPr lang="en-US" sz="1800" spc="0" dirty="0">
                <a:latin typeface="Times New Roman" panose="02020603050405020304" pitchFamily="18" charset="0"/>
                <a:cs typeface="Times New Roman" panose="02020603050405020304" pitchFamily="18" charset="0"/>
              </a:rPr>
              <a:t>G.Yashaswini-23up1a6618</a:t>
            </a:r>
          </a:p>
          <a:p>
            <a:r>
              <a:rPr lang="en-US" sz="1800" spc="0" dirty="0">
                <a:latin typeface="Times New Roman" panose="02020603050405020304" pitchFamily="18" charset="0"/>
                <a:cs typeface="Times New Roman" panose="02020603050405020304" pitchFamily="18" charset="0"/>
              </a:rPr>
              <a:t>K.Suneera-23up1a6625</a:t>
            </a:r>
          </a:p>
          <a:p>
            <a:r>
              <a:rPr lang="en-US" sz="1800" spc="0" dirty="0">
                <a:latin typeface="Times New Roman" panose="02020603050405020304" pitchFamily="18" charset="0"/>
                <a:cs typeface="Times New Roman" panose="02020603050405020304" pitchFamily="18" charset="0"/>
              </a:rPr>
              <a:t>G.Bhavya-23up1a6620</a:t>
            </a:r>
          </a:p>
          <a:p>
            <a:r>
              <a:rPr lang="en-US" sz="1800" spc="0" dirty="0">
                <a:latin typeface="Times New Roman" panose="02020603050405020304" pitchFamily="18" charset="0"/>
                <a:cs typeface="Times New Roman" panose="02020603050405020304" pitchFamily="18" charset="0"/>
              </a:rPr>
              <a:t>K.Mounika-23up1a6628									</a:t>
            </a:r>
            <a:br>
              <a:rPr lang="en-US" sz="1800" spc="0" dirty="0">
                <a:latin typeface="Times New Roman" panose="02020603050405020304" pitchFamily="18" charset="0"/>
                <a:cs typeface="Times New Roman" panose="02020603050405020304" pitchFamily="18" charset="0"/>
              </a:rPr>
            </a:br>
            <a:endParaRPr lang="en-IN" sz="1800" spc="0" dirty="0">
              <a:latin typeface="Times New Roman" panose="02020603050405020304" pitchFamily="18" charset="0"/>
              <a:cs typeface="Times New Roman" panose="02020603050405020304" pitchFamily="18" charset="0"/>
            </a:endParaRPr>
          </a:p>
          <a:p>
            <a:endParaRPr lang="en-IN" sz="1800" dirty="0"/>
          </a:p>
        </p:txBody>
      </p:sp>
      <p:pic>
        <p:nvPicPr>
          <p:cNvPr id="4" name="Content Placeholder 4">
            <a:extLst>
              <a:ext uri="{FF2B5EF4-FFF2-40B4-BE49-F238E27FC236}">
                <a16:creationId xmlns:a16="http://schemas.microsoft.com/office/drawing/2014/main" id="{B39725B9-0A02-4AE2-7B42-B3D8F175B5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7" y="988142"/>
            <a:ext cx="1681316" cy="1160206"/>
          </a:xfrm>
          <a:prstGeom prst="rect">
            <a:avLst/>
          </a:prstGeom>
        </p:spPr>
      </p:pic>
      <p:sp>
        <p:nvSpPr>
          <p:cNvPr id="5" name="Subtitle 2">
            <a:extLst>
              <a:ext uri="{FF2B5EF4-FFF2-40B4-BE49-F238E27FC236}">
                <a16:creationId xmlns:a16="http://schemas.microsoft.com/office/drawing/2014/main" id="{5E24D089-7CE5-0277-96DB-289C0B63E2AC}"/>
              </a:ext>
            </a:extLst>
          </p:cNvPr>
          <p:cNvSpPr txBox="1">
            <a:spLocks/>
          </p:cNvSpPr>
          <p:nvPr/>
        </p:nvSpPr>
        <p:spPr>
          <a:xfrm>
            <a:off x="7089059" y="4090219"/>
            <a:ext cx="5102941" cy="2155723"/>
          </a:xfrm>
          <a:prstGeom prst="rect">
            <a:avLst/>
          </a:prstGeom>
        </p:spPr>
        <p:txBody>
          <a:bodyPr vert="horz" lIns="91440" tIns="45720" rIns="91440" bIns="45720" rtlCol="0">
            <a:normAutofit fontScale="40000" lnSpcReduction="20000"/>
          </a:bodyPr>
          <a:lstStyle>
            <a:lvl1pPr marL="0" indent="0" algn="l" defTabSz="914400" rtl="0" eaLnBrk="1" latinLnBrk="0" hangingPunct="1">
              <a:lnSpc>
                <a:spcPct val="120000"/>
              </a:lnSpc>
              <a:spcBef>
                <a:spcPts val="1000"/>
              </a:spcBef>
              <a:buClr>
                <a:schemeClr val="accent5"/>
              </a:buClr>
              <a:buFont typeface="Arial" panose="020B0604020202020204" pitchFamily="34" charset="0"/>
              <a:buNone/>
              <a:defRPr sz="1600" b="1" kern="1200" cap="all" spc="300" baseline="0">
                <a:solidFill>
                  <a:schemeClr val="tx2"/>
                </a:solidFill>
                <a:latin typeface="+mn-lt"/>
                <a:ea typeface="+mn-ea"/>
                <a:cs typeface="+mn-cs"/>
              </a:defRPr>
            </a:lvl1pPr>
            <a:lvl2pPr marL="457200" indent="0" algn="ctr" defTabSz="914400" rtl="0" eaLnBrk="1" latinLnBrk="0" hangingPunct="1">
              <a:lnSpc>
                <a:spcPct val="120000"/>
              </a:lnSpc>
              <a:spcBef>
                <a:spcPts val="500"/>
              </a:spcBef>
              <a:buClr>
                <a:schemeClr val="accent5"/>
              </a:buClr>
              <a:buFont typeface="Arial" panose="020B06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120000"/>
              </a:lnSpc>
              <a:spcBef>
                <a:spcPts val="500"/>
              </a:spcBef>
              <a:buClr>
                <a:schemeClr val="accent5"/>
              </a:buClr>
              <a:buFont typeface="Arial" panose="020B06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120000"/>
              </a:lnSpc>
              <a:spcBef>
                <a:spcPts val="500"/>
              </a:spcBef>
              <a:buClr>
                <a:schemeClr val="accent5"/>
              </a:buClr>
              <a:buFont typeface="Arial" panose="020B06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20000"/>
              </a:lnSpc>
              <a:spcBef>
                <a:spcPts val="500"/>
              </a:spcBef>
              <a:buClr>
                <a:schemeClr val="accent5"/>
              </a:buClr>
              <a:buFont typeface="Arial" panose="020B06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500" spc="0" dirty="0">
                <a:latin typeface="Times New Roman" panose="02020603050405020304" charset="0"/>
                <a:cs typeface="Times New Roman" panose="02020603050405020304" charset="0"/>
              </a:rPr>
              <a:t>Guide name: A. Rupa</a:t>
            </a:r>
          </a:p>
          <a:p>
            <a:r>
              <a:rPr lang="en-US" sz="4500" spc="0" dirty="0">
                <a:latin typeface="Times New Roman" panose="02020603050405020304" charset="0"/>
                <a:cs typeface="Times New Roman" panose="02020603050405020304" charset="0"/>
              </a:rPr>
              <a:t>Designation : Assistant  Professor    </a:t>
            </a:r>
          </a:p>
          <a:p>
            <a:r>
              <a:rPr lang="en-US" sz="4500" spc="0" dirty="0">
                <a:latin typeface="Times New Roman" panose="02020603050405020304" charset="0"/>
                <a:cs typeface="Times New Roman" panose="02020603050405020304" charset="0"/>
              </a:rPr>
              <a:t>Department : CSE(AIML)</a:t>
            </a:r>
            <a:endParaRPr lang="en-IN" sz="4500" spc="0" dirty="0">
              <a:latin typeface="Times New Roman" panose="02020603050405020304" charset="0"/>
              <a:cs typeface="Times New Roman" panose="02020603050405020304" charset="0"/>
            </a:endParaRPr>
          </a:p>
          <a:p>
            <a:r>
              <a:rPr lang="en-US" sz="4500" spc="0" dirty="0">
                <a:latin typeface="Times New Roman" panose="02020603050405020304" pitchFamily="18" charset="0"/>
                <a:cs typeface="Times New Roman" panose="02020603050405020304" pitchFamily="18" charset="0"/>
              </a:rPr>
              <a:t>		</a:t>
            </a:r>
            <a:br>
              <a:rPr lang="en-US" sz="4500" spc="0" dirty="0">
                <a:latin typeface="Times New Roman" panose="02020603050405020304" pitchFamily="18" charset="0"/>
                <a:cs typeface="Times New Roman" panose="02020603050405020304" pitchFamily="18" charset="0"/>
              </a:rPr>
            </a:br>
            <a:endParaRPr lang="en-IN" sz="4500" spc="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82727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3ADFB-7713-6EC9-C6D7-9ACF1CE1DC15}"/>
              </a:ext>
            </a:extLst>
          </p:cNvPr>
          <p:cNvSpPr>
            <a:spLocks noGrp="1"/>
          </p:cNvSpPr>
          <p:nvPr>
            <p:ph type="title"/>
          </p:nvPr>
        </p:nvSpPr>
        <p:spPr>
          <a:xfrm>
            <a:off x="905255" y="403855"/>
            <a:ext cx="9914859" cy="1329004"/>
          </a:xfrm>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CONTENTS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168DB53-8FED-D18F-8EDB-F3D62CDF7AAD}"/>
              </a:ext>
            </a:extLst>
          </p:cNvPr>
          <p:cNvSpPr>
            <a:spLocks noGrp="1"/>
          </p:cNvSpPr>
          <p:nvPr>
            <p:ph idx="1"/>
          </p:nvPr>
        </p:nvSpPr>
        <p:spPr>
          <a:xfrm>
            <a:off x="905254" y="1537864"/>
            <a:ext cx="9914860" cy="4938327"/>
          </a:xfrm>
        </p:spPr>
        <p:txBody>
          <a:bodyPr>
            <a:normAutofit fontScale="70000" lnSpcReduction="20000"/>
          </a:bodyPr>
          <a:lstStyle/>
          <a:p>
            <a:r>
              <a:rPr lang="en-US" sz="2600" dirty="0">
                <a:solidFill>
                  <a:schemeClr val="tx1"/>
                </a:solidFill>
                <a:latin typeface="Times New Roman" panose="02020603050405020304" charset="0"/>
                <a:cs typeface="Times New Roman" panose="02020603050405020304" charset="0"/>
              </a:rPr>
              <a:t>Introduction</a:t>
            </a:r>
          </a:p>
          <a:p>
            <a:r>
              <a:rPr lang="en-US" sz="2600" dirty="0">
                <a:solidFill>
                  <a:schemeClr val="tx1"/>
                </a:solidFill>
                <a:latin typeface="Times New Roman" panose="02020603050405020304" charset="0"/>
                <a:cs typeface="Times New Roman" panose="02020603050405020304" charset="0"/>
              </a:rPr>
              <a:t>Literature Survey</a:t>
            </a:r>
          </a:p>
          <a:p>
            <a:r>
              <a:rPr lang="en-US" sz="2600" dirty="0">
                <a:solidFill>
                  <a:schemeClr val="tx1"/>
                </a:solidFill>
                <a:latin typeface="Times New Roman" panose="02020603050405020304" charset="0"/>
                <a:cs typeface="Times New Roman" panose="02020603050405020304" charset="0"/>
              </a:rPr>
              <a:t>Existing System and its Drawbacks</a:t>
            </a:r>
          </a:p>
          <a:p>
            <a:r>
              <a:rPr lang="en-US" sz="2600" dirty="0">
                <a:solidFill>
                  <a:schemeClr val="tx1"/>
                </a:solidFill>
                <a:latin typeface="Times New Roman" panose="02020603050405020304" charset="0"/>
                <a:cs typeface="Times New Roman" panose="02020603050405020304" charset="0"/>
              </a:rPr>
              <a:t>Problem statement</a:t>
            </a:r>
          </a:p>
          <a:p>
            <a:r>
              <a:rPr lang="en-US" sz="2600" dirty="0">
                <a:solidFill>
                  <a:schemeClr val="tx1"/>
                </a:solidFill>
                <a:latin typeface="Times New Roman" panose="02020603050405020304" charset="0"/>
                <a:cs typeface="Times New Roman" panose="02020603050405020304" charset="0"/>
              </a:rPr>
              <a:t> Hardware and Software requirements</a:t>
            </a:r>
          </a:p>
          <a:p>
            <a:r>
              <a:rPr lang="en-US" sz="2600" dirty="0">
                <a:solidFill>
                  <a:schemeClr val="tx1"/>
                </a:solidFill>
                <a:latin typeface="Times New Roman" panose="02020603050405020304" charset="0"/>
                <a:cs typeface="Times New Roman" panose="02020603050405020304" charset="0"/>
              </a:rPr>
              <a:t>Proposed system</a:t>
            </a:r>
          </a:p>
          <a:p>
            <a:r>
              <a:rPr lang="en-US" sz="2600" dirty="0">
                <a:solidFill>
                  <a:schemeClr val="tx1"/>
                </a:solidFill>
                <a:latin typeface="Times New Roman" panose="02020603050405020304" charset="0"/>
                <a:cs typeface="Times New Roman" panose="02020603050405020304" charset="0"/>
              </a:rPr>
              <a:t>System Architecture</a:t>
            </a:r>
          </a:p>
          <a:p>
            <a:r>
              <a:rPr lang="en-US" sz="2600" dirty="0">
                <a:solidFill>
                  <a:schemeClr val="tx1"/>
                </a:solidFill>
                <a:latin typeface="Times New Roman" panose="02020603050405020304" charset="0"/>
                <a:cs typeface="Times New Roman" panose="02020603050405020304" charset="0"/>
              </a:rPr>
              <a:t>UML Diagrams</a:t>
            </a:r>
          </a:p>
          <a:p>
            <a:r>
              <a:rPr lang="en-US" sz="2600" dirty="0">
                <a:solidFill>
                  <a:schemeClr val="tx1"/>
                </a:solidFill>
                <a:latin typeface="Times New Roman" panose="02020603050405020304" charset="0"/>
                <a:cs typeface="Times New Roman" panose="02020603050405020304" charset="0"/>
              </a:rPr>
              <a:t>Methodology</a:t>
            </a:r>
          </a:p>
          <a:p>
            <a:r>
              <a:rPr lang="en-US" sz="2600" dirty="0">
                <a:solidFill>
                  <a:schemeClr val="tx1"/>
                </a:solidFill>
                <a:latin typeface="Times New Roman" panose="02020603050405020304" charset="0"/>
                <a:cs typeface="Times New Roman" panose="02020603050405020304" charset="0"/>
              </a:rPr>
              <a:t>Scope and Purpose</a:t>
            </a:r>
          </a:p>
          <a:p>
            <a:r>
              <a:rPr lang="en-US" sz="2600" dirty="0">
                <a:solidFill>
                  <a:schemeClr val="tx1"/>
                </a:solidFill>
                <a:latin typeface="Times New Roman" panose="02020603050405020304" charset="0"/>
                <a:cs typeface="Times New Roman" panose="02020603050405020304" charset="0"/>
              </a:rPr>
              <a:t>Future Enhancement</a:t>
            </a:r>
          </a:p>
          <a:p>
            <a:r>
              <a:rPr lang="en-US" sz="2600" dirty="0">
                <a:solidFill>
                  <a:schemeClr val="tx1"/>
                </a:solidFill>
                <a:latin typeface="Times New Roman" panose="02020603050405020304" charset="0"/>
                <a:cs typeface="Times New Roman" panose="02020603050405020304" charset="0"/>
              </a:rPr>
              <a:t>Conclusion</a:t>
            </a:r>
          </a:p>
          <a:p>
            <a:endParaRPr lang="en-US" sz="1400" dirty="0">
              <a:solidFill>
                <a:schemeClr val="tx1"/>
              </a:solidFill>
              <a:latin typeface="Times New Roman" panose="02020603050405020304" charset="0"/>
              <a:cs typeface="Times New Roman" panose="02020603050405020304" charset="0"/>
            </a:endParaRPr>
          </a:p>
          <a:p>
            <a:endParaRPr lang="en-IN" dirty="0"/>
          </a:p>
        </p:txBody>
      </p:sp>
    </p:spTree>
    <p:extLst>
      <p:ext uri="{BB962C8B-B14F-4D97-AF65-F5344CB8AC3E}">
        <p14:creationId xmlns:p14="http://schemas.microsoft.com/office/powerpoint/2010/main" val="4029819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60331-D874-C010-9ECB-9EF78BBC1323}"/>
              </a:ext>
            </a:extLst>
          </p:cNvPr>
          <p:cNvSpPr>
            <a:spLocks noGrp="1"/>
          </p:cNvSpPr>
          <p:nvPr>
            <p:ph type="title"/>
          </p:nvPr>
        </p:nvSpPr>
        <p:spPr>
          <a:xfrm>
            <a:off x="905256" y="590668"/>
            <a:ext cx="9914859" cy="1139809"/>
          </a:xfrm>
        </p:spPr>
        <p:txBody>
          <a:bodyPr>
            <a:normAutofit fontScale="90000"/>
          </a:bodyPr>
          <a:lstStyle/>
          <a:p>
            <a:r>
              <a:rPr lang="en-US" sz="3100" b="1" dirty="0">
                <a:solidFill>
                  <a:schemeClr val="tx1">
                    <a:lumMod val="95000"/>
                    <a:lumOff val="5000"/>
                  </a:schemeClr>
                </a:solidFill>
                <a:latin typeface="Times New Roman" panose="02020603050405020304" charset="0"/>
                <a:cs typeface="Times New Roman" panose="02020603050405020304" charset="0"/>
              </a:rPr>
              <a:t>ABSTRACT:</a:t>
            </a:r>
            <a:br>
              <a:rPr lang="en-US" dirty="0"/>
            </a:br>
            <a:endParaRPr lang="en-IN" dirty="0"/>
          </a:p>
        </p:txBody>
      </p:sp>
      <p:sp>
        <p:nvSpPr>
          <p:cNvPr id="3" name="Content Placeholder 2">
            <a:extLst>
              <a:ext uri="{FF2B5EF4-FFF2-40B4-BE49-F238E27FC236}">
                <a16:creationId xmlns:a16="http://schemas.microsoft.com/office/drawing/2014/main" id="{478F9376-E4B6-6C71-8C41-28876DE01A1D}"/>
              </a:ext>
            </a:extLst>
          </p:cNvPr>
          <p:cNvSpPr>
            <a:spLocks noGrp="1"/>
          </p:cNvSpPr>
          <p:nvPr>
            <p:ph idx="1"/>
          </p:nvPr>
        </p:nvSpPr>
        <p:spPr>
          <a:xfrm>
            <a:off x="835742" y="1605041"/>
            <a:ext cx="9914860" cy="4123318"/>
          </a:xfrm>
        </p:spPr>
        <p:txBody>
          <a:bodyPr/>
          <a:lstStyle/>
          <a:p>
            <a:pPr marL="0" indent="0">
              <a:lnSpc>
                <a:spcPct val="150000"/>
              </a:lnSpc>
              <a:buNone/>
            </a:pPr>
            <a:r>
              <a:rPr lang="en-US" sz="1800" dirty="0">
                <a:solidFill>
                  <a:schemeClr val="tx1"/>
                </a:solidFill>
                <a:latin typeface="Times New Roman" panose="02020603050405020304" charset="0"/>
                <a:cs typeface="Times New Roman" panose="02020603050405020304" charset="0"/>
              </a:rPr>
              <a:t>This project presents the design and development of an AI-based multi-college student interaction platform aimed at overcoming the limitations of existing communication tools used in academic collaboration. The proposed web-based system enables students from different colleges, departments, and regions to interact through structured communities and real-time chat facilities. An AI-powered chatbot supports students by answering academic queries, recommending learning resources, and providing guidance, while role-based access control, automated content moderation, and intelligent notification mechanisms ensure a secure and well-organized environment. The platform is designed to enhance knowledge sharing, encourage cross-college collaboration, and foster both academic and professional growth among students through a smart, scalable, and student-centric solution.</a:t>
            </a:r>
          </a:p>
          <a:p>
            <a:endParaRPr lang="en-IN" dirty="0"/>
          </a:p>
        </p:txBody>
      </p:sp>
    </p:spTree>
    <p:extLst>
      <p:ext uri="{BB962C8B-B14F-4D97-AF65-F5344CB8AC3E}">
        <p14:creationId xmlns:p14="http://schemas.microsoft.com/office/powerpoint/2010/main" val="2296810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018B0-830F-9252-9FF9-6D3ADA3873D3}"/>
              </a:ext>
            </a:extLst>
          </p:cNvPr>
          <p:cNvSpPr>
            <a:spLocks noGrp="1"/>
          </p:cNvSpPr>
          <p:nvPr>
            <p:ph type="title"/>
          </p:nvPr>
        </p:nvSpPr>
        <p:spPr/>
        <p:txBody>
          <a:bodyPr>
            <a:normAutofit/>
          </a:bodyPr>
          <a:lstStyle/>
          <a:p>
            <a:r>
              <a:rPr lang="en-US" sz="2800" b="1" dirty="0">
                <a:solidFill>
                  <a:schemeClr val="tx1">
                    <a:lumMod val="95000"/>
                    <a:lumOff val="5000"/>
                  </a:schemeClr>
                </a:solidFill>
                <a:latin typeface="Times New Roman" panose="02020603050405020304" charset="0"/>
                <a:cs typeface="Times New Roman" panose="02020603050405020304" charset="0"/>
              </a:rPr>
              <a:t>INTRODUCTION:</a:t>
            </a:r>
            <a:endParaRPr lang="en-IN" sz="2800" b="1" dirty="0"/>
          </a:p>
        </p:txBody>
      </p:sp>
      <p:sp>
        <p:nvSpPr>
          <p:cNvPr id="3" name="Content Placeholder 2">
            <a:extLst>
              <a:ext uri="{FF2B5EF4-FFF2-40B4-BE49-F238E27FC236}">
                <a16:creationId xmlns:a16="http://schemas.microsoft.com/office/drawing/2014/main" id="{AA74B714-0CB1-9063-7E6A-5BCFE328E36C}"/>
              </a:ext>
            </a:extLst>
          </p:cNvPr>
          <p:cNvSpPr>
            <a:spLocks noGrp="1"/>
          </p:cNvSpPr>
          <p:nvPr>
            <p:ph idx="1"/>
          </p:nvPr>
        </p:nvSpPr>
        <p:spPr/>
        <p:txBody>
          <a:bodyPr>
            <a:normAutofit/>
          </a:bodyPr>
          <a:lstStyle/>
          <a:p>
            <a:pPr marL="0" indent="0">
              <a:lnSpc>
                <a:spcPct val="150000"/>
              </a:lnSpc>
              <a:buNone/>
            </a:pPr>
            <a:r>
              <a:rPr lang="en-US" sz="1800" dirty="0">
                <a:solidFill>
                  <a:schemeClr val="tx1"/>
                </a:solidFill>
                <a:latin typeface="Times New Roman" panose="02020603050405020304" pitchFamily="18" charset="0"/>
                <a:cs typeface="Times New Roman" panose="02020603050405020304" pitchFamily="18" charset="0"/>
              </a:rPr>
              <a:t>This project proposes a Multi College Students Interaction Chatbot Platform to address the limitations of existing digital communication tools that lack support for academic collaboration and cross-college interaction. The platform enables students from different colleges and departments to connect through structured communities for discussion, resource sharing, and collaborative learning. An AI-powered chatbot assists users by answering academic queries, recommending learning materials, guiding platform navigation, and supporting automated moderation. Features such as secure authentication, role-based access control, and intelligent notifications ensure a safe, organized, and scalable academic networking environment. The proposed system aims to enhance student engagement, promote collaborative learning, and bridge communication gaps between institutions</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3438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31593-1273-D59A-D6DA-9E52129A755F}"/>
              </a:ext>
            </a:extLst>
          </p:cNvPr>
          <p:cNvSpPr>
            <a:spLocks noGrp="1"/>
          </p:cNvSpPr>
          <p:nvPr>
            <p:ph type="title"/>
          </p:nvPr>
        </p:nvSpPr>
        <p:spPr>
          <a:xfrm>
            <a:off x="905256" y="226142"/>
            <a:ext cx="9914859" cy="1042219"/>
          </a:xfrm>
        </p:spPr>
        <p:txBody>
          <a:bodyPr>
            <a:normAutofit/>
          </a:bodyPr>
          <a:lstStyle/>
          <a:p>
            <a:r>
              <a:rPr lang="en-US" sz="2800" b="1" dirty="0">
                <a:solidFill>
                  <a:schemeClr val="tx1"/>
                </a:solidFill>
                <a:latin typeface="Times New Roman" panose="02020603050405020304" charset="0"/>
                <a:cs typeface="Times New Roman" panose="02020603050405020304" charset="0"/>
              </a:rPr>
              <a:t>LITERATURE SURVEY:</a:t>
            </a:r>
            <a:br>
              <a:rPr lang="en-IN" sz="2800" b="1" dirty="0">
                <a:solidFill>
                  <a:schemeClr val="tx1"/>
                </a:solidFill>
                <a:latin typeface="Times New Roman" panose="02020603050405020304" charset="0"/>
                <a:cs typeface="Times New Roman" panose="02020603050405020304" charset="0"/>
              </a:rPr>
            </a:br>
            <a:endParaRPr lang="en-IN" sz="2800" b="1" dirty="0">
              <a:solidFill>
                <a:schemeClr val="tx1"/>
              </a:solidFill>
            </a:endParaRPr>
          </a:p>
        </p:txBody>
      </p:sp>
      <p:graphicFrame>
        <p:nvGraphicFramePr>
          <p:cNvPr id="9" name="Table 8">
            <a:extLst>
              <a:ext uri="{FF2B5EF4-FFF2-40B4-BE49-F238E27FC236}">
                <a16:creationId xmlns:a16="http://schemas.microsoft.com/office/drawing/2014/main" id="{94367BE8-E05B-C0AB-071A-31FD2C2D9643}"/>
              </a:ext>
            </a:extLst>
          </p:cNvPr>
          <p:cNvGraphicFramePr>
            <a:graphicFrameLocks noGrp="1"/>
          </p:cNvGraphicFramePr>
          <p:nvPr>
            <p:extLst>
              <p:ext uri="{D42A27DB-BD31-4B8C-83A1-F6EECF244321}">
                <p14:modId xmlns:p14="http://schemas.microsoft.com/office/powerpoint/2010/main" val="1236280423"/>
              </p:ext>
            </p:extLst>
          </p:nvPr>
        </p:nvGraphicFramePr>
        <p:xfrm>
          <a:off x="454943" y="934064"/>
          <a:ext cx="10815484" cy="5562585"/>
        </p:xfrm>
        <a:graphic>
          <a:graphicData uri="http://schemas.openxmlformats.org/drawingml/2006/table">
            <a:tbl>
              <a:tblPr firstRow="1" bandRow="1">
                <a:tableStyleId>{5C22544A-7EE6-4342-B048-85BDC9FD1C3A}</a:tableStyleId>
              </a:tblPr>
              <a:tblGrid>
                <a:gridCol w="2222091">
                  <a:extLst>
                    <a:ext uri="{9D8B030D-6E8A-4147-A177-3AD203B41FA5}">
                      <a16:colId xmlns:a16="http://schemas.microsoft.com/office/drawing/2014/main" val="250045130"/>
                    </a:ext>
                  </a:extLst>
                </a:gridCol>
                <a:gridCol w="1258529">
                  <a:extLst>
                    <a:ext uri="{9D8B030D-6E8A-4147-A177-3AD203B41FA5}">
                      <a16:colId xmlns:a16="http://schemas.microsoft.com/office/drawing/2014/main" val="3824592782"/>
                    </a:ext>
                  </a:extLst>
                </a:gridCol>
                <a:gridCol w="4886632">
                  <a:extLst>
                    <a:ext uri="{9D8B030D-6E8A-4147-A177-3AD203B41FA5}">
                      <a16:colId xmlns:a16="http://schemas.microsoft.com/office/drawing/2014/main" val="302727425"/>
                    </a:ext>
                  </a:extLst>
                </a:gridCol>
                <a:gridCol w="2448232">
                  <a:extLst>
                    <a:ext uri="{9D8B030D-6E8A-4147-A177-3AD203B41FA5}">
                      <a16:colId xmlns:a16="http://schemas.microsoft.com/office/drawing/2014/main" val="2655971010"/>
                    </a:ext>
                  </a:extLst>
                </a:gridCol>
              </a:tblGrid>
              <a:tr h="368533">
                <a:tc>
                  <a:txBody>
                    <a:bodyPr/>
                    <a:lstStyle/>
                    <a:p>
                      <a:pPr>
                        <a:buNone/>
                      </a:pPr>
                      <a:r>
                        <a:rPr lang="en-IN" sz="1800" dirty="0">
                          <a:latin typeface="Times New Roman" panose="02020603050405020304" pitchFamily="18" charset="0"/>
                          <a:cs typeface="Times New Roman" panose="02020603050405020304" pitchFamily="18" charset="0"/>
                        </a:rPr>
                        <a:t>Title</a:t>
                      </a:r>
                    </a:p>
                  </a:txBody>
                  <a:tcPr anchor="ctr"/>
                </a:tc>
                <a:tc>
                  <a:txBody>
                    <a:bodyPr/>
                    <a:lstStyle/>
                    <a:p>
                      <a:pPr>
                        <a:buNone/>
                      </a:pPr>
                      <a:r>
                        <a:rPr lang="en-IN" sz="1800">
                          <a:latin typeface="Times New Roman" panose="02020603050405020304" pitchFamily="18" charset="0"/>
                          <a:cs typeface="Times New Roman" panose="02020603050405020304" pitchFamily="18" charset="0"/>
                        </a:rPr>
                        <a:t>Author(s)</a:t>
                      </a:r>
                    </a:p>
                  </a:txBody>
                  <a:tcPr anchor="ctr"/>
                </a:tc>
                <a:tc>
                  <a:txBody>
                    <a:bodyPr/>
                    <a:lstStyle/>
                    <a:p>
                      <a:pPr>
                        <a:buNone/>
                      </a:pPr>
                      <a:r>
                        <a:rPr lang="en-IN" sz="1800">
                          <a:latin typeface="Times New Roman" panose="02020603050405020304" pitchFamily="18" charset="0"/>
                          <a:cs typeface="Times New Roman" panose="02020603050405020304" pitchFamily="18" charset="0"/>
                        </a:rPr>
                        <a:t>Description</a:t>
                      </a:r>
                    </a:p>
                  </a:txBody>
                  <a:tcPr anchor="ctr"/>
                </a:tc>
                <a:tc>
                  <a:txBody>
                    <a:bodyPr/>
                    <a:lstStyle/>
                    <a:p>
                      <a:pPr>
                        <a:buNone/>
                      </a:pPr>
                      <a:r>
                        <a:rPr lang="en-IN" sz="1800">
                          <a:latin typeface="Times New Roman" panose="02020603050405020304" pitchFamily="18" charset="0"/>
                          <a:cs typeface="Times New Roman" panose="02020603050405020304" pitchFamily="18" charset="0"/>
                        </a:rPr>
                        <a:t>Limitations</a:t>
                      </a:r>
                    </a:p>
                  </a:txBody>
                  <a:tcPr anchor="ctr"/>
                </a:tc>
                <a:extLst>
                  <a:ext uri="{0D108BD9-81ED-4DB2-BD59-A6C34878D82A}">
                    <a16:rowId xmlns:a16="http://schemas.microsoft.com/office/drawing/2014/main" val="4202691628"/>
                  </a:ext>
                </a:extLst>
              </a:tr>
              <a:tr h="968655">
                <a:tc>
                  <a:txBody>
                    <a:bodyPr/>
                    <a:lstStyle/>
                    <a:p>
                      <a:pPr>
                        <a:buNone/>
                      </a:pPr>
                      <a:r>
                        <a:rPr lang="en-US" sz="1800" dirty="0">
                          <a:latin typeface="Times New Roman" panose="02020603050405020304" pitchFamily="18" charset="0"/>
                          <a:cs typeface="Times New Roman" panose="02020603050405020304" pitchFamily="18" charset="0"/>
                        </a:rPr>
                        <a:t>Smart Educational Chatbot Platforms (2025)</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Patel et al.</a:t>
                      </a:r>
                    </a:p>
                  </a:txBody>
                  <a:tcPr anchor="ctr"/>
                </a:tc>
                <a:tc>
                  <a:txBody>
                    <a:bodyPr/>
                    <a:lstStyle/>
                    <a:p>
                      <a:pPr>
                        <a:buNone/>
                      </a:pPr>
                      <a:r>
                        <a:rPr lang="en-US" sz="1800">
                          <a:latin typeface="Times New Roman" panose="02020603050405020304" pitchFamily="18" charset="0"/>
                          <a:cs typeface="Times New Roman" panose="02020603050405020304" pitchFamily="18" charset="0"/>
                        </a:rPr>
                        <a:t>Combines AI chatbot with structured academic platforms for collaboration, multi-task handling, and learning support.</a:t>
                      </a:r>
                    </a:p>
                  </a:txBody>
                  <a:tcPr anchor="ctr"/>
                </a:tc>
                <a:tc>
                  <a:txBody>
                    <a:bodyPr/>
                    <a:lstStyle/>
                    <a:p>
                      <a:pPr>
                        <a:buNone/>
                      </a:pPr>
                      <a:r>
                        <a:rPr lang="en-US" sz="1800">
                          <a:latin typeface="Times New Roman" panose="02020603050405020304" pitchFamily="18" charset="0"/>
                          <a:cs typeface="Times New Roman" panose="02020603050405020304" pitchFamily="18" charset="0"/>
                        </a:rPr>
                        <a:t>High development cost and complexity in real-time implementation.</a:t>
                      </a:r>
                    </a:p>
                  </a:txBody>
                  <a:tcPr anchor="ctr"/>
                </a:tc>
                <a:extLst>
                  <a:ext uri="{0D108BD9-81ED-4DB2-BD59-A6C34878D82A}">
                    <a16:rowId xmlns:a16="http://schemas.microsoft.com/office/drawing/2014/main" val="3320304300"/>
                  </a:ext>
                </a:extLst>
              </a:tr>
              <a:tr h="1317522">
                <a:tc>
                  <a:txBody>
                    <a:bodyPr/>
                    <a:lstStyle/>
                    <a:p>
                      <a:pPr>
                        <a:buNone/>
                      </a:pPr>
                      <a:r>
                        <a:rPr lang="en-IN" sz="1800" dirty="0">
                          <a:latin typeface="Times New Roman" panose="02020603050405020304" pitchFamily="18" charset="0"/>
                          <a:cs typeface="Times New Roman" panose="02020603050405020304" pitchFamily="18" charset="0"/>
                        </a:rPr>
                        <a:t>Cross-platform Student Interaction Systems (2024)</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Lee et al.</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Provides communication between students across different colleges and institutions.</a:t>
                      </a:r>
                    </a:p>
                  </a:txBody>
                  <a:tcPr anchor="ctr"/>
                </a:tc>
                <a:tc>
                  <a:txBody>
                    <a:bodyPr/>
                    <a:lstStyle/>
                    <a:p>
                      <a:pPr>
                        <a:buNone/>
                      </a:pPr>
                      <a:r>
                        <a:rPr lang="en-US" sz="1800">
                          <a:latin typeface="Times New Roman" panose="02020603050405020304" pitchFamily="18" charset="0"/>
                          <a:cs typeface="Times New Roman" panose="02020603050405020304" pitchFamily="18" charset="0"/>
                        </a:rPr>
                        <a:t>Integration issues and lack of centralized control.</a:t>
                      </a:r>
                    </a:p>
                  </a:txBody>
                  <a:tcPr anchor="ctr"/>
                </a:tc>
                <a:extLst>
                  <a:ext uri="{0D108BD9-81ED-4DB2-BD59-A6C34878D82A}">
                    <a16:rowId xmlns:a16="http://schemas.microsoft.com/office/drawing/2014/main" val="1800521225"/>
                  </a:ext>
                </a:extLst>
              </a:tr>
              <a:tr h="1726551">
                <a:tc>
                  <a:txBody>
                    <a:bodyPr/>
                    <a:lstStyle/>
                    <a:p>
                      <a:pPr>
                        <a:buNone/>
                      </a:pPr>
                      <a:r>
                        <a:rPr lang="en-US" sz="1800" dirty="0">
                          <a:latin typeface="Times New Roman" panose="02020603050405020304" pitchFamily="18" charset="0"/>
                          <a:cs typeface="Times New Roman" panose="02020603050405020304" pitchFamily="18" charset="0"/>
                        </a:rPr>
                        <a:t>AI-based Student Assistance Systems (2023)</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Sharma &amp; Gupta</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AI-driven systems offering personalized recommendations and academic query support.</a:t>
                      </a:r>
                    </a:p>
                  </a:txBody>
                  <a:tcPr anchor="ctr"/>
                </a:tc>
                <a:tc>
                  <a:txBody>
                    <a:bodyPr/>
                    <a:lstStyle/>
                    <a:p>
                      <a:pPr>
                        <a:buNone/>
                      </a:pPr>
                      <a:r>
                        <a:rPr lang="en-US" sz="1800">
                          <a:latin typeface="Times New Roman" panose="02020603050405020304" pitchFamily="18" charset="0"/>
                          <a:cs typeface="Times New Roman" panose="02020603050405020304" pitchFamily="18" charset="0"/>
                        </a:rPr>
                        <a:t>Privacy concerns and dependency on continuous data updates.</a:t>
                      </a:r>
                    </a:p>
                  </a:txBody>
                  <a:tcPr anchor="ctr"/>
                </a:tc>
                <a:extLst>
                  <a:ext uri="{0D108BD9-81ED-4DB2-BD59-A6C34878D82A}">
                    <a16:rowId xmlns:a16="http://schemas.microsoft.com/office/drawing/2014/main" val="1530145988"/>
                  </a:ext>
                </a:extLst>
              </a:tr>
              <a:tr h="1181324">
                <a:tc>
                  <a:txBody>
                    <a:bodyPr/>
                    <a:lstStyle/>
                    <a:p>
                      <a:pPr>
                        <a:buNone/>
                      </a:pPr>
                      <a:r>
                        <a:rPr lang="en-US" sz="1800">
                          <a:latin typeface="Times New Roman" panose="02020603050405020304" pitchFamily="18" charset="0"/>
                          <a:cs typeface="Times New Roman" panose="02020603050405020304" pitchFamily="18" charset="0"/>
                        </a:rPr>
                        <a:t>Multi-functional Chatbot Systems in Education (2022)</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Ramesh et al.</a:t>
                      </a:r>
                    </a:p>
                  </a:txBody>
                  <a:tcPr anchor="ctr"/>
                </a:tc>
                <a:tc>
                  <a:txBody>
                    <a:bodyPr/>
                    <a:lstStyle/>
                    <a:p>
                      <a:r>
                        <a:rPr lang="en-US" sz="1800" dirty="0">
                          <a:latin typeface="Times New Roman" panose="02020603050405020304" pitchFamily="18" charset="0"/>
                          <a:cs typeface="Times New Roman" panose="02020603050405020304" pitchFamily="18" charset="0"/>
                        </a:rPr>
                        <a:t>Chatbots handling multiple tasks like answering queries, reminders, and notifications.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Limited scalability and performance issues with many users.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65188398"/>
                  </a:ext>
                </a:extLst>
              </a:tr>
            </a:tbl>
          </a:graphicData>
        </a:graphic>
      </p:graphicFrame>
    </p:spTree>
    <p:extLst>
      <p:ext uri="{BB962C8B-B14F-4D97-AF65-F5344CB8AC3E}">
        <p14:creationId xmlns:p14="http://schemas.microsoft.com/office/powerpoint/2010/main" val="3449955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BFF54-5E8C-4085-9B0B-736771287842}"/>
              </a:ext>
            </a:extLst>
          </p:cNvPr>
          <p:cNvSpPr>
            <a:spLocks noGrp="1"/>
          </p:cNvSpPr>
          <p:nvPr>
            <p:ph type="title"/>
          </p:nvPr>
        </p:nvSpPr>
        <p:spPr>
          <a:xfrm>
            <a:off x="905256" y="383458"/>
            <a:ext cx="9914859" cy="786581"/>
          </a:xfrm>
        </p:spPr>
        <p:txBody>
          <a:bodyPr>
            <a:normAutofit/>
          </a:bodyPr>
          <a:lstStyle/>
          <a:p>
            <a:r>
              <a:rPr lang="en-US" sz="2800" b="1" dirty="0">
                <a:solidFill>
                  <a:schemeClr val="tx1"/>
                </a:solidFill>
                <a:latin typeface="Times New Roman" panose="02020603050405020304" charset="0"/>
                <a:cs typeface="Times New Roman" panose="02020603050405020304" charset="0"/>
              </a:rPr>
              <a:t>EXISTING SYSTEMS :</a:t>
            </a:r>
            <a:endParaRPr lang="en-IN" sz="2800" dirty="0">
              <a:solidFill>
                <a:schemeClr val="tx1"/>
              </a:solidFill>
            </a:endParaRPr>
          </a:p>
        </p:txBody>
      </p:sp>
      <p:sp>
        <p:nvSpPr>
          <p:cNvPr id="3" name="Content Placeholder 2">
            <a:extLst>
              <a:ext uri="{FF2B5EF4-FFF2-40B4-BE49-F238E27FC236}">
                <a16:creationId xmlns:a16="http://schemas.microsoft.com/office/drawing/2014/main" id="{B60DB2AA-F5A3-776D-DCB2-9F36760F6075}"/>
              </a:ext>
            </a:extLst>
          </p:cNvPr>
          <p:cNvSpPr>
            <a:spLocks noGrp="1"/>
          </p:cNvSpPr>
          <p:nvPr>
            <p:ph idx="1"/>
          </p:nvPr>
        </p:nvSpPr>
        <p:spPr>
          <a:xfrm>
            <a:off x="914400" y="717754"/>
            <a:ext cx="9914860" cy="5260259"/>
          </a:xfrm>
        </p:spPr>
        <p:txBody>
          <a:bodyPr/>
          <a:lstStyle/>
          <a:p>
            <a:pPr marL="0" indent="0">
              <a:buNone/>
            </a:pPr>
            <a:endParaRPr lang="en-US" sz="1800" dirty="0">
              <a:solidFill>
                <a:schemeClr val="tx1"/>
              </a:solidFill>
              <a:latin typeface="Times New Roman" panose="02020603050405020304" pitchFamily="18" charset="0"/>
              <a:cs typeface="Times New Roman" panose="02020603050405020304" pitchFamily="18" charset="0"/>
            </a:endParaRPr>
          </a:p>
          <a:p>
            <a:pPr marL="0" indent="0">
              <a:lnSpc>
                <a:spcPct val="150000"/>
              </a:lnSpc>
              <a:buNone/>
            </a:pPr>
            <a:r>
              <a:rPr lang="en-US" sz="1800" dirty="0">
                <a:solidFill>
                  <a:schemeClr val="tx1"/>
                </a:solidFill>
                <a:latin typeface="Times New Roman" panose="02020603050405020304" pitchFamily="18" charset="0"/>
                <a:cs typeface="Times New Roman" panose="02020603050405020304" pitchFamily="18" charset="0"/>
              </a:rPr>
              <a:t>Student communication currently relies on general-purpose platforms like </a:t>
            </a:r>
            <a:r>
              <a:rPr lang="en-US" sz="1800" dirty="0" err="1">
                <a:solidFill>
                  <a:schemeClr val="tx1"/>
                </a:solidFill>
                <a:latin typeface="Times New Roman" panose="02020603050405020304" pitchFamily="18" charset="0"/>
                <a:cs typeface="Times New Roman" panose="02020603050405020304" pitchFamily="18" charset="0"/>
              </a:rPr>
              <a:t>whats</a:t>
            </a:r>
            <a:r>
              <a:rPr lang="en-US" sz="1800" dirty="0">
                <a:solidFill>
                  <a:schemeClr val="tx1"/>
                </a:solidFill>
                <a:latin typeface="Times New Roman" panose="02020603050405020304" pitchFamily="18" charset="0"/>
                <a:cs typeface="Times New Roman" panose="02020603050405020304" pitchFamily="18" charset="0"/>
              </a:rPr>
              <a:t> app, telegram, discord, social media, and college-specific portals. These tools allow chatting, file sharing, and group formation, but are not designed for structured academic collaboration or cross-college interaction. Academic queries are typically addressed via faculty, emails, notice boards, or LMS, and there is no centralized platform connecting students from multiple colleges with ai-based support.</a:t>
            </a:r>
          </a:p>
          <a:p>
            <a:pPr marL="0" indent="0">
              <a:buNone/>
            </a:pPr>
            <a:endParaRPr lang="en-US" sz="18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18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18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18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4" name="Title 1">
            <a:extLst>
              <a:ext uri="{FF2B5EF4-FFF2-40B4-BE49-F238E27FC236}">
                <a16:creationId xmlns:a16="http://schemas.microsoft.com/office/drawing/2014/main" id="{53E79DF8-C5A4-62A8-91F1-54BCC06F25E6}"/>
              </a:ext>
            </a:extLst>
          </p:cNvPr>
          <p:cNvSpPr txBox="1">
            <a:spLocks/>
          </p:cNvSpPr>
          <p:nvPr/>
        </p:nvSpPr>
        <p:spPr>
          <a:xfrm>
            <a:off x="776748" y="1101213"/>
            <a:ext cx="10509996" cy="4788310"/>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4000" kern="1200">
                <a:solidFill>
                  <a:schemeClr val="accent2"/>
                </a:solidFill>
                <a:latin typeface="+mj-lt"/>
                <a:ea typeface="+mj-ea"/>
                <a:cs typeface="+mj-cs"/>
              </a:defRPr>
            </a:lvl1pPr>
          </a:lstStyle>
          <a:p>
            <a:endParaRPr lang="en-US" sz="2800" b="1" dirty="0">
              <a:solidFill>
                <a:schemeClr val="tx1"/>
              </a:solidFill>
              <a:latin typeface="Times New Roman" panose="02020603050405020304" charset="0"/>
              <a:cs typeface="Times New Roman" panose="02020603050405020304" charset="0"/>
            </a:endParaRPr>
          </a:p>
          <a:p>
            <a:endParaRPr lang="en-US" sz="2800" b="1" dirty="0">
              <a:solidFill>
                <a:schemeClr val="tx1"/>
              </a:solidFill>
              <a:latin typeface="Times New Roman" panose="02020603050405020304" charset="0"/>
              <a:cs typeface="Times New Roman" panose="02020603050405020304" charset="0"/>
            </a:endParaRPr>
          </a:p>
          <a:p>
            <a:pPr>
              <a:lnSpc>
                <a:spcPct val="150000"/>
              </a:lnSpc>
            </a:pPr>
            <a:endParaRPr lang="en-US" sz="2800" b="1" dirty="0">
              <a:solidFill>
                <a:schemeClr val="tx1"/>
              </a:solidFill>
              <a:latin typeface="Times New Roman" panose="02020603050405020304" charset="0"/>
              <a:cs typeface="Times New Roman" panose="02020603050405020304" charset="0"/>
            </a:endParaRPr>
          </a:p>
          <a:p>
            <a:pPr>
              <a:lnSpc>
                <a:spcPct val="150000"/>
              </a:lnSpc>
            </a:pPr>
            <a:endParaRPr lang="en-US" sz="2800" b="1" dirty="0">
              <a:solidFill>
                <a:schemeClr val="tx1"/>
              </a:solidFill>
              <a:latin typeface="Times New Roman" panose="02020603050405020304" charset="0"/>
              <a:cs typeface="Times New Roman" panose="02020603050405020304" charset="0"/>
            </a:endParaRPr>
          </a:p>
          <a:p>
            <a:pPr>
              <a:lnSpc>
                <a:spcPct val="150000"/>
              </a:lnSpc>
            </a:pPr>
            <a:r>
              <a:rPr lang="en-US" sz="2800" b="1" dirty="0">
                <a:solidFill>
                  <a:schemeClr val="tx1"/>
                </a:solidFill>
                <a:latin typeface="Times New Roman" panose="02020603050405020304" charset="0"/>
                <a:cs typeface="Times New Roman" panose="02020603050405020304" charset="0"/>
              </a:rPr>
              <a:t>DRAWBACKS OF EXISTING SYSTEM:</a:t>
            </a:r>
          </a:p>
          <a:p>
            <a:pPr marL="285750" indent="-285750" algn="just">
              <a:lnSpc>
                <a:spcPct val="150000"/>
              </a:lnSpc>
              <a:buFont typeface="Arial" panose="020B0604020202020204" pitchFamily="34" charset="0"/>
              <a:buChar char="•"/>
            </a:pPr>
            <a:r>
              <a:rPr lang="en-US" sz="1800" dirty="0">
                <a:solidFill>
                  <a:schemeClr val="tx1"/>
                </a:solidFill>
                <a:latin typeface="Times New Roman" panose="02020603050405020304" charset="0"/>
                <a:cs typeface="Times New Roman" panose="02020603050405020304" charset="0"/>
              </a:rPr>
              <a:t>Limited Cross-College Interaction</a:t>
            </a:r>
          </a:p>
          <a:p>
            <a:pPr marL="285750" indent="-285750" algn="just">
              <a:lnSpc>
                <a:spcPct val="150000"/>
              </a:lnSpc>
              <a:buFont typeface="Arial" panose="020B0604020202020204" pitchFamily="34" charset="0"/>
              <a:buChar char="•"/>
            </a:pPr>
            <a:r>
              <a:rPr lang="en-US" sz="1800" dirty="0">
                <a:solidFill>
                  <a:schemeClr val="tx1"/>
                </a:solidFill>
                <a:latin typeface="Times New Roman" panose="02020603050405020304" charset="0"/>
                <a:cs typeface="Times New Roman" panose="02020603050405020304" charset="0"/>
              </a:rPr>
              <a:t>No Academic Structure</a:t>
            </a:r>
          </a:p>
          <a:p>
            <a:pPr marL="285750" indent="-285750" algn="just">
              <a:lnSpc>
                <a:spcPct val="150000"/>
              </a:lnSpc>
              <a:buFont typeface="Arial" panose="020B0604020202020204" pitchFamily="34" charset="0"/>
              <a:buChar char="•"/>
            </a:pPr>
            <a:r>
              <a:rPr lang="en-US" sz="1800" dirty="0">
                <a:solidFill>
                  <a:schemeClr val="tx1"/>
                </a:solidFill>
                <a:latin typeface="Times New Roman" panose="02020603050405020304" charset="0"/>
                <a:cs typeface="Times New Roman" panose="02020603050405020304" charset="0"/>
              </a:rPr>
              <a:t>Absence of Intelligent Assistance</a:t>
            </a:r>
          </a:p>
          <a:p>
            <a:pPr marL="285750" indent="-285750" algn="just">
              <a:lnSpc>
                <a:spcPct val="150000"/>
              </a:lnSpc>
              <a:buFont typeface="Arial" panose="020B0604020202020204" pitchFamily="34" charset="0"/>
              <a:buChar char="•"/>
            </a:pPr>
            <a:r>
              <a:rPr lang="en-US" sz="1800" dirty="0">
                <a:solidFill>
                  <a:schemeClr val="tx1"/>
                </a:solidFill>
                <a:latin typeface="Times New Roman" panose="02020603050405020304" charset="0"/>
                <a:cs typeface="Times New Roman" panose="02020603050405020304" charset="0"/>
              </a:rPr>
              <a:t>Information Overload &amp; Distractions</a:t>
            </a:r>
            <a:endParaRPr lang="en-IN" sz="1800" dirty="0">
              <a:solidFill>
                <a:schemeClr val="tx1"/>
              </a:solidFill>
            </a:endParaRPr>
          </a:p>
        </p:txBody>
      </p:sp>
    </p:spTree>
    <p:extLst>
      <p:ext uri="{BB962C8B-B14F-4D97-AF65-F5344CB8AC3E}">
        <p14:creationId xmlns:p14="http://schemas.microsoft.com/office/powerpoint/2010/main" val="3922514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E045B-1FB7-A022-2C19-6134E67BC25D}"/>
              </a:ext>
            </a:extLst>
          </p:cNvPr>
          <p:cNvSpPr>
            <a:spLocks noGrp="1"/>
          </p:cNvSpPr>
          <p:nvPr>
            <p:ph type="title"/>
          </p:nvPr>
        </p:nvSpPr>
        <p:spPr/>
        <p:txBody>
          <a:bodyPr>
            <a:normAutofit/>
          </a:bodyPr>
          <a:lstStyle/>
          <a:p>
            <a:r>
              <a:rPr lang="en-US" sz="2800" dirty="0">
                <a:solidFill>
                  <a:schemeClr val="tx1"/>
                </a:solidFill>
                <a:latin typeface="Times New Roman" panose="02020603050405020304" pitchFamily="18" charset="0"/>
                <a:cs typeface="Times New Roman" panose="02020603050405020304" pitchFamily="18" charset="0"/>
              </a:rPr>
              <a:t>PROBLEM STATEMENT:</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26FC3F6-BC97-261B-151A-8FCE0ADCAD74}"/>
              </a:ext>
            </a:extLst>
          </p:cNvPr>
          <p:cNvSpPr>
            <a:spLocks noGrp="1"/>
          </p:cNvSpPr>
          <p:nvPr>
            <p:ph idx="1"/>
          </p:nvPr>
        </p:nvSpPr>
        <p:spPr/>
        <p:txBody>
          <a:bodyPr>
            <a:normAutofit/>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Students face difficulty in getting quick answers to their academic and college-related queries. They need to check multiple sources like teachers and websites, which takes time. There is no single platform to handle all student needs . So, a chatbot is required to provide instant information anytime.</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7964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3C0C6-722A-27F8-FE00-865B648FD173}"/>
              </a:ext>
            </a:extLst>
          </p:cNvPr>
          <p:cNvSpPr>
            <a:spLocks noGrp="1"/>
          </p:cNvSpPr>
          <p:nvPr>
            <p:ph type="title"/>
          </p:nvPr>
        </p:nvSpPr>
        <p:spPr>
          <a:xfrm>
            <a:off x="905256" y="963560"/>
            <a:ext cx="9914859" cy="884905"/>
          </a:xfrm>
        </p:spPr>
        <p:txBody>
          <a:bodyPr>
            <a:normAutofit fontScale="90000"/>
          </a:bodyPr>
          <a:lstStyle/>
          <a:p>
            <a:br>
              <a:rPr lang="en-US" sz="2800" b="1" dirty="0">
                <a:solidFill>
                  <a:schemeClr val="tx1"/>
                </a:solidFill>
                <a:latin typeface="Times New Roman" panose="02020603050405020304" charset="0"/>
                <a:cs typeface="Times New Roman" panose="02020603050405020304" charset="0"/>
              </a:rPr>
            </a:br>
            <a:r>
              <a:rPr lang="en-US" sz="3100" b="1" dirty="0">
                <a:solidFill>
                  <a:schemeClr val="tx1"/>
                </a:solidFill>
                <a:latin typeface="Times New Roman" panose="02020603050405020304" charset="0"/>
                <a:cs typeface="Times New Roman" panose="02020603050405020304" charset="0"/>
              </a:rPr>
              <a:t>PROPOSED SYSTEM: </a:t>
            </a:r>
            <a:br>
              <a:rPr lang="en-IN" b="1" dirty="0">
                <a:latin typeface="Times New Roman" panose="02020603050405020304" charset="0"/>
                <a:cs typeface="Times New Roman" panose="02020603050405020304" charset="0"/>
              </a:rPr>
            </a:br>
            <a:endParaRPr lang="en-IN" dirty="0"/>
          </a:p>
        </p:txBody>
      </p:sp>
      <p:sp>
        <p:nvSpPr>
          <p:cNvPr id="3" name="Content Placeholder 2">
            <a:extLst>
              <a:ext uri="{FF2B5EF4-FFF2-40B4-BE49-F238E27FC236}">
                <a16:creationId xmlns:a16="http://schemas.microsoft.com/office/drawing/2014/main" id="{D4AA08CF-DF81-AD7C-A387-B0BC3CBCE0C1}"/>
              </a:ext>
            </a:extLst>
          </p:cNvPr>
          <p:cNvSpPr>
            <a:spLocks noGrp="1"/>
          </p:cNvSpPr>
          <p:nvPr>
            <p:ph idx="1"/>
          </p:nvPr>
        </p:nvSpPr>
        <p:spPr/>
        <p:txBody>
          <a:bodyPr>
            <a:normAutofit/>
          </a:bodyPr>
          <a:lstStyle/>
          <a:p>
            <a:pPr marL="0" indent="0">
              <a:lnSpc>
                <a:spcPct val="150000"/>
              </a:lnSpc>
              <a:buNone/>
            </a:pPr>
            <a:r>
              <a:rPr lang="en-US" sz="1800" dirty="0">
                <a:latin typeface="Times New Roman" panose="02020603050405020304" charset="0"/>
                <a:cs typeface="Times New Roman" panose="02020603050405020304" charset="0"/>
              </a:rPr>
              <a:t>The proposed system is an AI-based Multi College Students Interaction Chatbot Platform developed to overcome the limitations of existing communication tools. It provides a structured academic environment that enables students from different colleges and departments to interact, collaborate, and share knowledge through organized communities. An AI-powered chatbot offers instant academic support by resolving queries, recommending learning resources, guiding platform usage, and assisting with automated moderation. The system also incorporates secure authentication, role-based access, and notification services to ensure a safe, organized, and scalable academic networking solution. Overall, the proposed system enhances collaborative learning, improves student engagement, and bridges communication gaps between institutions</a:t>
            </a:r>
            <a:endParaRPr lang="en-IN" sz="1800" dirty="0"/>
          </a:p>
        </p:txBody>
      </p:sp>
    </p:spTree>
    <p:extLst>
      <p:ext uri="{BB962C8B-B14F-4D97-AF65-F5344CB8AC3E}">
        <p14:creationId xmlns:p14="http://schemas.microsoft.com/office/powerpoint/2010/main" val="754629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1D8FB-2E73-B826-A96D-8D989A5A692D}"/>
              </a:ext>
            </a:extLst>
          </p:cNvPr>
          <p:cNvSpPr>
            <a:spLocks noGrp="1"/>
          </p:cNvSpPr>
          <p:nvPr>
            <p:ph type="title"/>
          </p:nvPr>
        </p:nvSpPr>
        <p:spPr/>
        <p:txBody>
          <a:bodyPr>
            <a:normAutofit/>
          </a:bodyPr>
          <a:lstStyle/>
          <a:p>
            <a:r>
              <a:rPr lang="en-IN" sz="2800" b="1" dirty="0">
                <a:solidFill>
                  <a:schemeClr val="tx1"/>
                </a:solidFill>
                <a:latin typeface="Times New Roman" panose="02020603050405020304" charset="0"/>
                <a:cs typeface="Times New Roman" panose="02020603050405020304" charset="0"/>
              </a:rPr>
              <a:t>SOFTWARE REQUIREMENTS:</a:t>
            </a:r>
            <a:br>
              <a:rPr lang="en-IN" sz="2800" b="1" dirty="0">
                <a:solidFill>
                  <a:schemeClr val="tx1"/>
                </a:solidFill>
                <a:latin typeface="Times New Roman" panose="02020603050405020304" charset="0"/>
                <a:cs typeface="Times New Roman" panose="02020603050405020304" charset="0"/>
              </a:rPr>
            </a:br>
            <a:endParaRPr lang="en-IN" sz="2800" dirty="0">
              <a:solidFill>
                <a:schemeClr val="tx1"/>
              </a:solidFill>
            </a:endParaRPr>
          </a:p>
        </p:txBody>
      </p:sp>
      <p:sp>
        <p:nvSpPr>
          <p:cNvPr id="3" name="Content Placeholder 2">
            <a:extLst>
              <a:ext uri="{FF2B5EF4-FFF2-40B4-BE49-F238E27FC236}">
                <a16:creationId xmlns:a16="http://schemas.microsoft.com/office/drawing/2014/main" id="{F270F481-9B03-53AE-868C-A7D39BD287ED}"/>
              </a:ext>
            </a:extLst>
          </p:cNvPr>
          <p:cNvSpPr>
            <a:spLocks noGrp="1"/>
          </p:cNvSpPr>
          <p:nvPr>
            <p:ph idx="1"/>
          </p:nvPr>
        </p:nvSpPr>
        <p:spPr/>
        <p:txBody>
          <a:bodyPr>
            <a:normAutofit lnSpcReduction="10000"/>
          </a:bodyPr>
          <a:lstStyle/>
          <a:p>
            <a:pPr marL="0" indent="0" algn="just">
              <a:lnSpc>
                <a:spcPct val="110000"/>
              </a:lnSpc>
              <a:buNone/>
            </a:pPr>
            <a:r>
              <a:rPr lang="en-IN" sz="2100" b="1" dirty="0">
                <a:latin typeface="Times New Roman" panose="02020603050405020304" charset="0"/>
                <a:cs typeface="Times New Roman" panose="02020603050405020304" charset="0"/>
              </a:rPr>
              <a:t>1.Frontend Technologies: </a:t>
            </a:r>
            <a:r>
              <a:rPr lang="en-IN" sz="2100" dirty="0">
                <a:latin typeface="Times New Roman" panose="02020603050405020304" charset="0"/>
                <a:cs typeface="Times New Roman" panose="02020603050405020304" charset="0"/>
              </a:rPr>
              <a:t>HTML ,CSS ,JavaScript,React.js or Bootstrap</a:t>
            </a:r>
          </a:p>
          <a:p>
            <a:pPr marL="0" indent="0" algn="just">
              <a:lnSpc>
                <a:spcPct val="110000"/>
              </a:lnSpc>
              <a:buNone/>
            </a:pPr>
            <a:r>
              <a:rPr lang="en-IN" sz="2100" b="1" dirty="0">
                <a:latin typeface="Times New Roman" panose="02020603050405020304" charset="0"/>
                <a:cs typeface="Times New Roman" panose="02020603050405020304" charset="0"/>
              </a:rPr>
              <a:t>2.Backend Technologies: </a:t>
            </a:r>
            <a:r>
              <a:rPr lang="en-IN" sz="2100" dirty="0">
                <a:latin typeface="Times New Roman" panose="02020603050405020304" charset="0"/>
                <a:cs typeface="Times New Roman" panose="02020603050405020304" charset="0"/>
              </a:rPr>
              <a:t>Python using Flask or Django framework, REST</a:t>
            </a:r>
          </a:p>
          <a:p>
            <a:pPr marL="0" indent="0" algn="just">
              <a:lnSpc>
                <a:spcPct val="110000"/>
              </a:lnSpc>
              <a:buNone/>
            </a:pPr>
            <a:r>
              <a:rPr lang="en-IN" sz="2100" b="1" dirty="0">
                <a:latin typeface="Times New Roman" panose="02020603050405020304" charset="0"/>
                <a:cs typeface="Times New Roman" panose="02020603050405020304" charset="0"/>
              </a:rPr>
              <a:t>3.AI / Chatbot Technologies: </a:t>
            </a:r>
            <a:r>
              <a:rPr lang="en-IN" sz="2100" dirty="0">
                <a:latin typeface="Times New Roman" panose="02020603050405020304" charset="0"/>
                <a:cs typeface="Times New Roman" panose="02020603050405020304" charset="0"/>
              </a:rPr>
              <a:t>Python programming language, Natural Language Processing (NLP) techniques, NLTK, Rule-based and basic AI-based chatbot models</a:t>
            </a:r>
          </a:p>
          <a:p>
            <a:pPr marL="0" indent="0" algn="just">
              <a:lnSpc>
                <a:spcPct val="110000"/>
              </a:lnSpc>
              <a:buNone/>
            </a:pPr>
            <a:r>
              <a:rPr lang="en-IN" sz="2100" b="1" dirty="0">
                <a:latin typeface="Times New Roman" panose="02020603050405020304" charset="0"/>
                <a:cs typeface="Times New Roman" panose="02020603050405020304" charset="0"/>
              </a:rPr>
              <a:t>4.Database:</a:t>
            </a:r>
            <a:r>
              <a:rPr lang="en-IN" sz="2100" dirty="0">
                <a:latin typeface="Times New Roman" panose="02020603050405020304" charset="0"/>
                <a:cs typeface="Times New Roman" panose="02020603050405020304" charset="0"/>
              </a:rPr>
              <a:t>MySQL or PostgreSQL, MongoDB</a:t>
            </a:r>
            <a:r>
              <a:rPr lang="en-IN" sz="2100" b="1" dirty="0">
                <a:latin typeface="Times New Roman" panose="02020603050405020304" charset="0"/>
                <a:cs typeface="Times New Roman" panose="02020603050405020304" charset="0"/>
              </a:rPr>
              <a:t> </a:t>
            </a:r>
          </a:p>
          <a:p>
            <a:pPr marL="0" indent="0" algn="just">
              <a:lnSpc>
                <a:spcPct val="110000"/>
              </a:lnSpc>
              <a:buNone/>
            </a:pPr>
            <a:r>
              <a:rPr lang="en-IN" sz="2100" b="1" dirty="0">
                <a:latin typeface="Times New Roman" panose="02020603050405020304" charset="0"/>
                <a:cs typeface="Times New Roman" panose="02020603050405020304" charset="0"/>
              </a:rPr>
              <a:t>5.Authentication and Security: </a:t>
            </a:r>
            <a:r>
              <a:rPr lang="en-IN" sz="2100" dirty="0">
                <a:latin typeface="Times New Roman" panose="02020603050405020304" charset="0"/>
                <a:cs typeface="Times New Roman" panose="02020603050405020304" charset="0"/>
              </a:rPr>
              <a:t>JWT (JSON Web Tokens) , Role-based access control (student, admin, moderator),Password encryption and hashing techniques</a:t>
            </a:r>
          </a:p>
          <a:p>
            <a:pPr marL="0" indent="0">
              <a:lnSpc>
                <a:spcPct val="110000"/>
              </a:lnSpc>
              <a:buNone/>
            </a:pPr>
            <a:r>
              <a:rPr lang="en-IN" sz="2100" b="1" dirty="0">
                <a:latin typeface="Times New Roman" panose="02020603050405020304" charset="0"/>
                <a:cs typeface="Times New Roman" panose="02020603050405020304" charset="0"/>
              </a:rPr>
              <a:t>6.Notification Service: </a:t>
            </a:r>
            <a:r>
              <a:rPr lang="en-IN" sz="2100" dirty="0">
                <a:latin typeface="Times New Roman" panose="02020603050405020304" charset="0"/>
                <a:cs typeface="Times New Roman" panose="02020603050405020304" charset="0"/>
              </a:rPr>
              <a:t>Web push notifications , Web Sockets or Socket.io</a:t>
            </a:r>
          </a:p>
          <a:p>
            <a:pPr marL="0" indent="0">
              <a:lnSpc>
                <a:spcPct val="110000"/>
              </a:lnSpc>
              <a:buNone/>
            </a:pPr>
            <a:r>
              <a:rPr lang="en-IN" sz="2100" b="1" dirty="0">
                <a:latin typeface="Times New Roman" panose="02020603050405020304" charset="0"/>
                <a:cs typeface="Times New Roman" panose="02020603050405020304" charset="0"/>
              </a:rPr>
              <a:t>7.Development Tools: </a:t>
            </a:r>
            <a:r>
              <a:rPr lang="en-IN" sz="2100" dirty="0">
                <a:latin typeface="Times New Roman" panose="02020603050405020304" charset="0"/>
                <a:cs typeface="Times New Roman" panose="02020603050405020304" charset="0"/>
              </a:rPr>
              <a:t>Visual Studio Code, Git and GitHub, Postman for API testing, Web browser (Chrome)</a:t>
            </a:r>
          </a:p>
          <a:p>
            <a:pPr marL="0" indent="0">
              <a:buNone/>
            </a:pPr>
            <a:endParaRPr lang="en-IN" dirty="0"/>
          </a:p>
        </p:txBody>
      </p:sp>
    </p:spTree>
    <p:extLst>
      <p:ext uri="{BB962C8B-B14F-4D97-AF65-F5344CB8AC3E}">
        <p14:creationId xmlns:p14="http://schemas.microsoft.com/office/powerpoint/2010/main" val="2137676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3E757-75E5-22A5-9C6E-34EE5F2A807F}"/>
              </a:ext>
            </a:extLst>
          </p:cNvPr>
          <p:cNvSpPr>
            <a:spLocks noGrp="1"/>
          </p:cNvSpPr>
          <p:nvPr>
            <p:ph type="title"/>
          </p:nvPr>
        </p:nvSpPr>
        <p:spPr/>
        <p:txBody>
          <a:bodyPr/>
          <a:lstStyle/>
          <a:p>
            <a:r>
              <a:rPr lang="en-IN" sz="2800" b="1" dirty="0">
                <a:solidFill>
                  <a:schemeClr val="tx1"/>
                </a:solidFill>
                <a:latin typeface="Times New Roman" panose="02020603050405020304" charset="0"/>
                <a:cs typeface="Times New Roman" panose="02020603050405020304" charset="0"/>
              </a:rPr>
              <a:t>SYSTEM ARCHITECTURE:</a:t>
            </a:r>
            <a:br>
              <a:rPr lang="en-IN" b="1" dirty="0">
                <a:solidFill>
                  <a:schemeClr val="tx1"/>
                </a:solidFill>
                <a:latin typeface="Times New Roman" panose="02020603050405020304" charset="0"/>
                <a:cs typeface="Times New Roman" panose="02020603050405020304" charset="0"/>
              </a:rPr>
            </a:br>
            <a:endParaRPr lang="en-IN" dirty="0"/>
          </a:p>
        </p:txBody>
      </p:sp>
      <p:pic>
        <p:nvPicPr>
          <p:cNvPr id="5" name="Content Placeholder 4">
            <a:extLst>
              <a:ext uri="{FF2B5EF4-FFF2-40B4-BE49-F238E27FC236}">
                <a16:creationId xmlns:a16="http://schemas.microsoft.com/office/drawing/2014/main" id="{78A609FD-C1AB-EB03-7261-7FAD13B72EF6}"/>
              </a:ext>
            </a:extLst>
          </p:cNvPr>
          <p:cNvPicPr>
            <a:picLocks noGrp="1" noChangeAspect="1"/>
          </p:cNvPicPr>
          <p:nvPr>
            <p:ph idx="1"/>
          </p:nvPr>
        </p:nvPicPr>
        <p:blipFill>
          <a:blip r:embed="rId2"/>
          <a:stretch>
            <a:fillRect/>
          </a:stretch>
        </p:blipFill>
        <p:spPr>
          <a:xfrm>
            <a:off x="678426" y="1278194"/>
            <a:ext cx="10608318" cy="5579806"/>
          </a:xfrm>
          <a:prstGeom prst="rect">
            <a:avLst/>
          </a:prstGeom>
        </p:spPr>
      </p:pic>
    </p:spTree>
    <p:extLst>
      <p:ext uri="{BB962C8B-B14F-4D97-AF65-F5344CB8AC3E}">
        <p14:creationId xmlns:p14="http://schemas.microsoft.com/office/powerpoint/2010/main" val="3902973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A3E9A-BCF0-D074-65EE-1DC041869512}"/>
              </a:ext>
            </a:extLst>
          </p:cNvPr>
          <p:cNvSpPr>
            <a:spLocks noGrp="1"/>
          </p:cNvSpPr>
          <p:nvPr>
            <p:ph type="title"/>
          </p:nvPr>
        </p:nvSpPr>
        <p:spPr/>
        <p:txBody>
          <a:bodyPr>
            <a:normAutofit fontScale="90000"/>
          </a:bodyPr>
          <a:lstStyle/>
          <a:p>
            <a:r>
              <a:rPr lang="en-IN" sz="3100" b="1" dirty="0">
                <a:solidFill>
                  <a:schemeClr val="tx1"/>
                </a:solidFill>
                <a:latin typeface="Times New Roman" panose="02020603050405020304" charset="0"/>
                <a:cs typeface="Times New Roman" panose="02020603050405020304" charset="0"/>
              </a:rPr>
              <a:t>UML DIAGRAMS</a:t>
            </a:r>
            <a:br>
              <a:rPr lang="en-IN" b="1" dirty="0">
                <a:solidFill>
                  <a:schemeClr val="tx1"/>
                </a:solidFill>
                <a:latin typeface="Times New Roman" panose="02020603050405020304" charset="0"/>
                <a:cs typeface="Times New Roman" panose="02020603050405020304" charset="0"/>
              </a:rPr>
            </a:br>
            <a:r>
              <a:rPr lang="en-IN" sz="3100" b="1" dirty="0">
                <a:solidFill>
                  <a:schemeClr val="tx1"/>
                </a:solidFill>
                <a:latin typeface="Times New Roman" panose="02020603050405020304" charset="0"/>
                <a:cs typeface="Times New Roman" panose="02020603050405020304" charset="0"/>
              </a:rPr>
              <a:t>Class Diagram:</a:t>
            </a:r>
            <a:br>
              <a:rPr lang="en-IN" sz="3100" b="1" dirty="0">
                <a:solidFill>
                  <a:schemeClr val="tx1"/>
                </a:solidFill>
                <a:latin typeface="Times New Roman" panose="02020603050405020304" charset="0"/>
                <a:cs typeface="Times New Roman" panose="02020603050405020304" charset="0"/>
              </a:rPr>
            </a:br>
            <a:endParaRPr lang="en-IN" sz="3100" dirty="0"/>
          </a:p>
        </p:txBody>
      </p:sp>
      <p:pic>
        <p:nvPicPr>
          <p:cNvPr id="1026" name="Picture 2">
            <a:extLst>
              <a:ext uri="{FF2B5EF4-FFF2-40B4-BE49-F238E27FC236}">
                <a16:creationId xmlns:a16="http://schemas.microsoft.com/office/drawing/2014/main" id="{FE1638E7-B41A-55CF-DB75-4E0B0A685CF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5303" y="1376516"/>
            <a:ext cx="11287432" cy="518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2662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1DD99-DC50-4FA5-9D05-B5B30E1433EF}"/>
              </a:ext>
            </a:extLst>
          </p:cNvPr>
          <p:cNvSpPr>
            <a:spLocks noGrp="1"/>
          </p:cNvSpPr>
          <p:nvPr>
            <p:ph type="title"/>
          </p:nvPr>
        </p:nvSpPr>
        <p:spPr>
          <a:xfrm>
            <a:off x="905256" y="590668"/>
            <a:ext cx="9914859" cy="903835"/>
          </a:xfrm>
        </p:spPr>
        <p:txBody>
          <a:bodyPr>
            <a:normAutofit fontScale="90000"/>
          </a:bodyPr>
          <a:lstStyle/>
          <a:p>
            <a:r>
              <a:rPr lang="en-IN" sz="3100" b="1" dirty="0">
                <a:solidFill>
                  <a:schemeClr val="tx1"/>
                </a:solidFill>
                <a:latin typeface="Times New Roman" panose="02020603050405020304" charset="0"/>
                <a:cs typeface="Times New Roman" panose="02020603050405020304" charset="0"/>
              </a:rPr>
              <a:t>Activity Diagram</a:t>
            </a:r>
            <a:r>
              <a:rPr lang="en-IN" b="1" dirty="0">
                <a:solidFill>
                  <a:schemeClr val="tx1"/>
                </a:solidFill>
                <a:latin typeface="Times New Roman" panose="02020603050405020304" charset="0"/>
                <a:cs typeface="Times New Roman" panose="02020603050405020304" charset="0"/>
              </a:rPr>
              <a:t>:</a:t>
            </a:r>
            <a:br>
              <a:rPr lang="en-IN" dirty="0"/>
            </a:br>
            <a:endParaRPr lang="en-IN" dirty="0"/>
          </a:p>
        </p:txBody>
      </p:sp>
      <p:pic>
        <p:nvPicPr>
          <p:cNvPr id="2050" name="Picture 2">
            <a:extLst>
              <a:ext uri="{FF2B5EF4-FFF2-40B4-BE49-F238E27FC236}">
                <a16:creationId xmlns:a16="http://schemas.microsoft.com/office/drawing/2014/main" id="{E9B73BC9-B5A5-6151-A45C-3BE7EAB73A0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53497" y="1278194"/>
            <a:ext cx="8927690" cy="5417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0433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85B45-E2BA-B185-5AFB-C60036AAA17E}"/>
              </a:ext>
            </a:extLst>
          </p:cNvPr>
          <p:cNvSpPr>
            <a:spLocks noGrp="1"/>
          </p:cNvSpPr>
          <p:nvPr>
            <p:ph type="title"/>
          </p:nvPr>
        </p:nvSpPr>
        <p:spPr/>
        <p:txBody>
          <a:bodyPr>
            <a:normAutofit/>
          </a:bodyPr>
          <a:lstStyle/>
          <a:p>
            <a:r>
              <a:rPr lang="en-IN" sz="2800" b="1" dirty="0">
                <a:solidFill>
                  <a:schemeClr val="tx1"/>
                </a:solidFill>
                <a:latin typeface="Times New Roman" panose="02020603050405020304" pitchFamily="18" charset="0"/>
                <a:cs typeface="Times New Roman" panose="02020603050405020304" pitchFamily="18" charset="0"/>
              </a:rPr>
              <a:t>Use case:</a:t>
            </a:r>
            <a:br>
              <a:rPr lang="en-IN" sz="2800"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ECBE124B-CAA6-28C9-F023-49B3317EEC4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9303" y="432619"/>
            <a:ext cx="8377084" cy="6351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5859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085-06B3-93C9-0985-5121B8F343BD}"/>
              </a:ext>
            </a:extLst>
          </p:cNvPr>
          <p:cNvSpPr>
            <a:spLocks noGrp="1"/>
          </p:cNvSpPr>
          <p:nvPr>
            <p:ph type="title"/>
          </p:nvPr>
        </p:nvSpPr>
        <p:spPr/>
        <p:txBody>
          <a:bodyPr>
            <a:normAutofit/>
          </a:bodyPr>
          <a:lstStyle/>
          <a:p>
            <a:r>
              <a:rPr lang="en-IN" sz="2800" b="1" dirty="0">
                <a:solidFill>
                  <a:schemeClr val="tx1"/>
                </a:solidFill>
                <a:latin typeface="Times New Roman" panose="02020603050405020304" charset="0"/>
                <a:cs typeface="Times New Roman" panose="02020603050405020304" charset="0"/>
              </a:rPr>
              <a:t>Sequence Diagram:</a:t>
            </a:r>
            <a:br>
              <a:rPr lang="en-IN" sz="2800" dirty="0"/>
            </a:br>
            <a:endParaRPr lang="en-IN" sz="2800" dirty="0"/>
          </a:p>
        </p:txBody>
      </p:sp>
      <p:pic>
        <p:nvPicPr>
          <p:cNvPr id="3074" name="Picture 2">
            <a:extLst>
              <a:ext uri="{FF2B5EF4-FFF2-40B4-BE49-F238E27FC236}">
                <a16:creationId xmlns:a16="http://schemas.microsoft.com/office/drawing/2014/main" id="{F0933545-7A7D-61EC-72DC-81473100B51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268361"/>
            <a:ext cx="12074013" cy="5496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4891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FF877-D86A-CBA8-6B3E-39383A7259ED}"/>
              </a:ext>
            </a:extLst>
          </p:cNvPr>
          <p:cNvSpPr>
            <a:spLocks noGrp="1"/>
          </p:cNvSpPr>
          <p:nvPr>
            <p:ph type="title"/>
          </p:nvPr>
        </p:nvSpPr>
        <p:spPr/>
        <p:txBody>
          <a:bodyPr/>
          <a:lstStyle/>
          <a:p>
            <a:r>
              <a:rPr lang="en-IN" sz="2800" b="1" dirty="0">
                <a:solidFill>
                  <a:schemeClr val="tx1"/>
                </a:solidFill>
                <a:latin typeface="Times New Roman" panose="02020603050405020304" pitchFamily="18" charset="0"/>
                <a:cs typeface="Times New Roman" panose="02020603050405020304" pitchFamily="18" charset="0"/>
              </a:rPr>
              <a:t>Deployment:</a:t>
            </a:r>
            <a:br>
              <a:rPr lang="en-IN" sz="2800" dirty="0">
                <a:solidFill>
                  <a:schemeClr val="tx1"/>
                </a:solidFill>
                <a:latin typeface="Times New Roman" panose="02020603050405020304" pitchFamily="18" charset="0"/>
                <a:cs typeface="Times New Roman" panose="02020603050405020304" pitchFamily="18" charset="0"/>
              </a:rPr>
            </a:br>
            <a:endParaRPr lang="en-IN" sz="2800" dirty="0">
              <a:solidFill>
                <a:schemeClr val="tx1"/>
              </a:solidFill>
              <a:latin typeface="Times New Roman" panose="02020603050405020304" pitchFamily="18" charset="0"/>
              <a:cs typeface="Times New Roman" panose="02020603050405020304" pitchFamily="18" charset="0"/>
            </a:endParaRPr>
          </a:p>
        </p:txBody>
      </p:sp>
      <p:pic>
        <p:nvPicPr>
          <p:cNvPr id="2052" name="Picture 4">
            <a:extLst>
              <a:ext uri="{FF2B5EF4-FFF2-40B4-BE49-F238E27FC236}">
                <a16:creationId xmlns:a16="http://schemas.microsoft.com/office/drawing/2014/main" id="{87BE8532-244C-4E61-8B50-A06B6912658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5174" y="1641988"/>
            <a:ext cx="9065342" cy="4454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5439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C1B73-91D5-634F-5556-792EA1E493AC}"/>
              </a:ext>
            </a:extLst>
          </p:cNvPr>
          <p:cNvSpPr>
            <a:spLocks noGrp="1"/>
          </p:cNvSpPr>
          <p:nvPr>
            <p:ph type="title"/>
          </p:nvPr>
        </p:nvSpPr>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Methodology</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34F6CA8-04C4-E791-DD52-8596DCADAED8}"/>
              </a:ext>
            </a:extLst>
          </p:cNvPr>
          <p:cNvSpPr>
            <a:spLocks noGrp="1" noChangeArrowheads="1"/>
          </p:cNvSpPr>
          <p:nvPr>
            <p:ph idx="1"/>
          </p:nvPr>
        </p:nvSpPr>
        <p:spPr bwMode="auto">
          <a:xfrm>
            <a:off x="905256" y="1919672"/>
            <a:ext cx="7401385" cy="3366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Gather student queries (academics, schedules, exams, etc.)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Clean and organize text data for training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Development: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NLP techniques to understand user input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Intent Recognition: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Identify student needs (queries, requests, tasks)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Response Generation: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 accurate and relevant answers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Multi-task Handling: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Support multiple features (Q&amp;A, reminders, info)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Connect chatbot with database or college system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Testing &amp; Evaluation: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Check accuracy and improve performance </a:t>
            </a:r>
          </a:p>
        </p:txBody>
      </p:sp>
    </p:spTree>
    <p:extLst>
      <p:ext uri="{BB962C8B-B14F-4D97-AF65-F5344CB8AC3E}">
        <p14:creationId xmlns:p14="http://schemas.microsoft.com/office/powerpoint/2010/main" val="1129450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89897-FB48-2294-D8E9-9FBF6748BEAA}"/>
              </a:ext>
            </a:extLst>
          </p:cNvPr>
          <p:cNvSpPr>
            <a:spLocks noGrp="1"/>
          </p:cNvSpPr>
          <p:nvPr>
            <p:ph type="title"/>
          </p:nvPr>
        </p:nvSpPr>
        <p:spPr/>
        <p:txBody>
          <a:bodyPr>
            <a:normAutofit/>
          </a:bodyPr>
          <a:lstStyle/>
          <a:p>
            <a:r>
              <a:rPr lang="en-US" sz="3200" b="1" dirty="0">
                <a:solidFill>
                  <a:schemeClr val="tx1"/>
                </a:solidFill>
                <a:latin typeface="Times New Roman" panose="02020603050405020304" pitchFamily="18" charset="0"/>
                <a:cs typeface="Times New Roman" panose="02020603050405020304" pitchFamily="18" charset="0"/>
              </a:rPr>
              <a:t>FUTURE ENHANCEMENT</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8408AA2-AAC3-699E-8951-A0F49E930EC5}"/>
              </a:ext>
            </a:extLst>
          </p:cNvPr>
          <p:cNvSpPr>
            <a:spLocks noGrp="1" noChangeArrowheads="1"/>
          </p:cNvSpPr>
          <p:nvPr>
            <p:ph idx="1"/>
          </p:nvPr>
        </p:nvSpPr>
        <p:spPr bwMode="auto">
          <a:xfrm>
            <a:off x="816079" y="1607218"/>
            <a:ext cx="9389806" cy="364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AI for more intelligent responses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Voice-based interaction (speech recognition)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Multi-language support for better accessibility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Personalized recommendations for students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mobile apps and LMS platforms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analytics to track student behavior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Chatbot with emotion detection for better interaction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 learning using machine learning </a:t>
            </a:r>
          </a:p>
        </p:txBody>
      </p:sp>
    </p:spTree>
    <p:extLst>
      <p:ext uri="{BB962C8B-B14F-4D97-AF65-F5344CB8AC3E}">
        <p14:creationId xmlns:p14="http://schemas.microsoft.com/office/powerpoint/2010/main" val="1531733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A9489-9A93-576B-A327-3BDFE97CF670}"/>
              </a:ext>
            </a:extLst>
          </p:cNvPr>
          <p:cNvSpPr>
            <a:spLocks noGrp="1"/>
          </p:cNvSpPr>
          <p:nvPr>
            <p:ph type="title"/>
          </p:nvPr>
        </p:nvSpPr>
        <p:spPr>
          <a:xfrm>
            <a:off x="413643" y="354694"/>
            <a:ext cx="9914859" cy="441719"/>
          </a:xfrm>
        </p:spPr>
        <p:txBody>
          <a:bodyPr>
            <a:noAutofit/>
          </a:bodyPr>
          <a:lstStyle/>
          <a:p>
            <a:r>
              <a:rPr lang="en-US" sz="2800" dirty="0">
                <a:solidFill>
                  <a:schemeClr val="tx1"/>
                </a:solidFill>
              </a:rPr>
              <a:t>RESULTS :</a:t>
            </a:r>
            <a:endParaRPr lang="en-IN" sz="2800" dirty="0">
              <a:solidFill>
                <a:schemeClr val="tx1"/>
              </a:solidFill>
            </a:endParaRPr>
          </a:p>
        </p:txBody>
      </p:sp>
      <p:pic>
        <p:nvPicPr>
          <p:cNvPr id="4" name="Picture 3">
            <a:extLst>
              <a:ext uri="{FF2B5EF4-FFF2-40B4-BE49-F238E27FC236}">
                <a16:creationId xmlns:a16="http://schemas.microsoft.com/office/drawing/2014/main" id="{606733C4-B5D5-2D5A-A468-0BB43E3F11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258" y="1018840"/>
            <a:ext cx="10913807" cy="5204979"/>
          </a:xfrm>
          <a:prstGeom prst="rect">
            <a:avLst/>
          </a:prstGeom>
        </p:spPr>
      </p:pic>
    </p:spTree>
    <p:extLst>
      <p:ext uri="{BB962C8B-B14F-4D97-AF65-F5344CB8AC3E}">
        <p14:creationId xmlns:p14="http://schemas.microsoft.com/office/powerpoint/2010/main" val="1232825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2908E5-A505-BC5A-99FF-926BF69848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942" y="560439"/>
            <a:ext cx="10766323" cy="5496233"/>
          </a:xfrm>
          <a:prstGeom prst="rect">
            <a:avLst/>
          </a:prstGeom>
        </p:spPr>
      </p:pic>
    </p:spTree>
    <p:extLst>
      <p:ext uri="{BB962C8B-B14F-4D97-AF65-F5344CB8AC3E}">
        <p14:creationId xmlns:p14="http://schemas.microsoft.com/office/powerpoint/2010/main" val="2968213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9CB183-20A5-13FD-2B2F-FC8A248A41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218" y="1002890"/>
            <a:ext cx="11108037" cy="5376917"/>
          </a:xfrm>
          <a:prstGeom prst="rect">
            <a:avLst/>
          </a:prstGeom>
        </p:spPr>
      </p:pic>
    </p:spTree>
    <p:extLst>
      <p:ext uri="{BB962C8B-B14F-4D97-AF65-F5344CB8AC3E}">
        <p14:creationId xmlns:p14="http://schemas.microsoft.com/office/powerpoint/2010/main" val="1625803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186EE4-A4E9-9A6A-3C55-4302C2F5DE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858" y="973394"/>
            <a:ext cx="11007210" cy="5503605"/>
          </a:xfrm>
          <a:prstGeom prst="rect">
            <a:avLst/>
          </a:prstGeom>
        </p:spPr>
      </p:pic>
    </p:spTree>
    <p:extLst>
      <p:ext uri="{BB962C8B-B14F-4D97-AF65-F5344CB8AC3E}">
        <p14:creationId xmlns:p14="http://schemas.microsoft.com/office/powerpoint/2010/main" val="1198575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3C94B-0213-15A6-C750-E997CC1DCE70}"/>
              </a:ext>
            </a:extLst>
          </p:cNvPr>
          <p:cNvSpPr>
            <a:spLocks noGrp="1"/>
          </p:cNvSpPr>
          <p:nvPr>
            <p:ph type="title"/>
          </p:nvPr>
        </p:nvSpPr>
        <p:spPr/>
        <p:txBody>
          <a:bodyPr>
            <a:normAutofit/>
          </a:bodyPr>
          <a:lstStyle/>
          <a:p>
            <a:r>
              <a:rPr lang="en-US" sz="3200" b="1" dirty="0">
                <a:solidFill>
                  <a:schemeClr val="tx1"/>
                </a:solidFill>
                <a:latin typeface="Times New Roman" panose="02020603050405020304" pitchFamily="18" charset="0"/>
                <a:cs typeface="Times New Roman" panose="02020603050405020304" pitchFamily="18" charset="0"/>
              </a:rPr>
              <a:t>CONCLUSION</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87FFF9-84AB-217E-BD28-6ECA8A0FDA72}"/>
              </a:ext>
            </a:extLst>
          </p:cNvPr>
          <p:cNvSpPr>
            <a:spLocks noGrp="1"/>
          </p:cNvSpPr>
          <p:nvPr>
            <p:ph idx="1"/>
          </p:nvPr>
        </p:nvSpPr>
        <p:spPr/>
        <p:txBody>
          <a:bodyPr>
            <a:normAutofit/>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The Multi-Task Student Interaction Chatbot provides an efficient and user-friendly solution for handling various student queries and tasks. It simplifies communication by offering instant responses and reduces the workload on administrative staff. By using advanced technologies like Natural Language Processing, the chatbot can understand and respond accurately to student needs. It supports multiple functions such as answering academic queries, providing updates, and managing reminders. This system enhances student engagement and ensures accessibility at any time. Overall, the chatbot is a valuable tool for modern educational institutions, and with future enhancements, it can become even more intelligent and effective</a:t>
            </a:r>
            <a:r>
              <a:rPr lang="en-US" sz="1800" dirty="0"/>
              <a:t>.</a:t>
            </a:r>
            <a:endParaRPr lang="en-IN" sz="1800" dirty="0"/>
          </a:p>
        </p:txBody>
      </p:sp>
    </p:spTree>
    <p:extLst>
      <p:ext uri="{BB962C8B-B14F-4D97-AF65-F5344CB8AC3E}">
        <p14:creationId xmlns:p14="http://schemas.microsoft.com/office/powerpoint/2010/main" val="4168286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26C13-6C5B-4124-8E57-D5DFE4929F4C}"/>
              </a:ext>
            </a:extLst>
          </p:cNvPr>
          <p:cNvSpPr>
            <a:spLocks noGrp="1"/>
          </p:cNvSpPr>
          <p:nvPr>
            <p:ph type="title"/>
          </p:nvPr>
        </p:nvSpPr>
        <p:spPr/>
        <p:txBody>
          <a:bodyPr>
            <a:normAutofit/>
          </a:bodyPr>
          <a:lstStyle/>
          <a:p>
            <a:r>
              <a:rPr lang="en-US" sz="3200" dirty="0">
                <a:solidFill>
                  <a:schemeClr val="tx1"/>
                </a:solidFill>
                <a:latin typeface="Times New Roman" panose="02020603050405020304" pitchFamily="18" charset="0"/>
                <a:cs typeface="Times New Roman" panose="02020603050405020304" pitchFamily="18" charset="0"/>
              </a:rPr>
              <a:t>Reference</a:t>
            </a: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B8157FA-7D28-34E1-A8CD-05290696BDB6}"/>
              </a:ext>
            </a:extLst>
          </p:cNvPr>
          <p:cNvSpPr>
            <a:spLocks noGrp="1"/>
          </p:cNvSpPr>
          <p:nvPr>
            <p:ph idx="1"/>
          </p:nvPr>
        </p:nvSpPr>
        <p:spPr>
          <a:xfrm>
            <a:off x="905255" y="1919673"/>
            <a:ext cx="10883621" cy="4123318"/>
          </a:xfrm>
        </p:spPr>
        <p:txBody>
          <a:bodyPr>
            <a:normAutofit/>
          </a:bodyPr>
          <a:lstStyle/>
          <a:p>
            <a:r>
              <a:rPr lang="en-IN" sz="2800" dirty="0">
                <a:latin typeface="Times New Roman" panose="02020603050405020304" pitchFamily="18" charset="0"/>
                <a:cs typeface="Times New Roman" panose="02020603050405020304" pitchFamily="18" charset="0"/>
                <a:hlinkClick r:id="rId2"/>
              </a:rPr>
              <a:t>https://ieeexplore.ieee.org/document/8463313</a:t>
            </a: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hlinkClick r:id="rId3"/>
              </a:rPr>
              <a:t>https://www.researchgate.net/publication/334273741</a:t>
            </a: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hlinkClick r:id="rId4"/>
              </a:rPr>
              <a:t>https://dl.acm.org/doi/10.1145/3386527.3405940</a:t>
            </a: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hlinkClick r:id="rId5"/>
              </a:rPr>
              <a:t>https://www.sciencedirect.com/science/article/pii/S1877050920304865</a:t>
            </a: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hlinkClick r:id="rId6"/>
              </a:rPr>
              <a:t>https://www.sciencedirect.com/science/article/pii/S187705092100561X</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56582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ECBBE6-FD0F-D157-9E22-B72BD985A12F}"/>
              </a:ext>
            </a:extLst>
          </p:cNvPr>
          <p:cNvSpPr>
            <a:spLocks noGrp="1"/>
          </p:cNvSpPr>
          <p:nvPr>
            <p:ph idx="1"/>
          </p:nvPr>
        </p:nvSpPr>
        <p:spPr>
          <a:xfrm>
            <a:off x="2359742" y="2261419"/>
            <a:ext cx="7502013" cy="3097163"/>
          </a:xfrm>
        </p:spPr>
        <p:txBody>
          <a:bodyPr>
            <a:noAutofit/>
          </a:bodyPr>
          <a:lstStyle/>
          <a:p>
            <a:pPr marL="0" indent="0">
              <a:buNone/>
            </a:pPr>
            <a:r>
              <a:rPr lang="en-IN" sz="105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54658542"/>
      </p:ext>
    </p:extLst>
  </p:cSld>
  <p:clrMapOvr>
    <a:masterClrMapping/>
  </p:clrMapOvr>
</p:sld>
</file>

<file path=ppt/theme/theme1.xml><?xml version="1.0" encoding="utf-8"?>
<a:theme xmlns:a="http://schemas.openxmlformats.org/drawingml/2006/main" name="ModOverlayVTI">
  <a:themeElements>
    <a:clrScheme name="Custom 50">
      <a:dk1>
        <a:sysClr val="windowText" lastClr="000000"/>
      </a:dk1>
      <a:lt1>
        <a:srgbClr val="F4F2EC"/>
      </a:lt1>
      <a:dk2>
        <a:srgbClr val="09283F"/>
      </a:dk2>
      <a:lt2>
        <a:srgbClr val="FFFFFF"/>
      </a:lt2>
      <a:accent1>
        <a:srgbClr val="3C9A8F"/>
      </a:accent1>
      <a:accent2>
        <a:srgbClr val="18818C"/>
      </a:accent2>
      <a:accent3>
        <a:srgbClr val="800A2F"/>
      </a:accent3>
      <a:accent4>
        <a:srgbClr val="F6635C"/>
      </a:accent4>
      <a:accent5>
        <a:srgbClr val="F48E7C"/>
      </a:accent5>
      <a:accent6>
        <a:srgbClr val="DA9D16"/>
      </a:accent6>
      <a:hlink>
        <a:srgbClr val="ED621D"/>
      </a:hlink>
      <a:folHlink>
        <a:srgbClr val="A18A6D"/>
      </a:folHlink>
    </a:clrScheme>
    <a:fontScheme name="Elephant Arial Nova Light">
      <a:majorFont>
        <a:latin typeface="Elephan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OverlayVTI" id="{85202D65-63D3-4793-A090-FA8DF18DC0BE}" vid="{91924FCD-E846-48AE-B233-F25A78D18B8D}"/>
    </a:ext>
  </a:extLst>
</a:theme>
</file>

<file path=docProps/app.xml><?xml version="1.0" encoding="utf-8"?>
<Properties xmlns="http://schemas.openxmlformats.org/officeDocument/2006/extended-properties" xmlns:vt="http://schemas.openxmlformats.org/officeDocument/2006/docPropsVTypes">
  <Template>Mod overlay</Template>
  <TotalTime>327</TotalTime>
  <Words>1247</Words>
  <Application>Microsoft Office PowerPoint</Application>
  <PresentationFormat>Widescreen</PresentationFormat>
  <Paragraphs>110</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Arial Nova Light</vt:lpstr>
      <vt:lpstr>Elephant</vt:lpstr>
      <vt:lpstr>Times New Roman</vt:lpstr>
      <vt:lpstr>ModOverlayVTI</vt:lpstr>
      <vt:lpstr>   VIGNAN'S INSTITUTE OF MANAGEMENT AND TECHNOLOGY FOR WOMEN                 Department of CSE(AI&amp;ML)  Project Title: Multi-College Students Interaction and Chatbot </vt:lpstr>
      <vt:lpstr>CONTENTS</vt:lpstr>
      <vt:lpstr>ABSTRACT: </vt:lpstr>
      <vt:lpstr>INTRODUCTION:</vt:lpstr>
      <vt:lpstr>LITERATURE SURVEY: </vt:lpstr>
      <vt:lpstr>EXISTING SYSTEMS :</vt:lpstr>
      <vt:lpstr>PROBLEM STATEMENT:</vt:lpstr>
      <vt:lpstr> PROPOSED SYSTEM:  </vt:lpstr>
      <vt:lpstr>SOFTWARE REQUIREMENTS: </vt:lpstr>
      <vt:lpstr>SYSTEM ARCHITECTURE: </vt:lpstr>
      <vt:lpstr>UML DIAGRAMS Class Diagram: </vt:lpstr>
      <vt:lpstr>Activity Diagram: </vt:lpstr>
      <vt:lpstr>Use case: </vt:lpstr>
      <vt:lpstr>Sequence Diagram: </vt:lpstr>
      <vt:lpstr>Deployment: </vt:lpstr>
      <vt:lpstr>Methodology</vt:lpstr>
      <vt:lpstr>FUTURE ENHANCEMENT</vt:lpstr>
      <vt:lpstr>RESULTS :</vt:lpstr>
      <vt:lpstr>PowerPoint Presentation</vt:lpstr>
      <vt:lpstr>PowerPoint Presentation</vt:lpstr>
      <vt:lpstr>PowerPoint Presentation</vt:lpstr>
      <vt:lpstr>CONCLUSION</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suneera kodaboina</dc:creator>
  <cp:lastModifiedBy>yashaswini goriparthi</cp:lastModifiedBy>
  <cp:revision>7</cp:revision>
  <dcterms:created xsi:type="dcterms:W3CDTF">2026-03-27T16:06:35Z</dcterms:created>
  <dcterms:modified xsi:type="dcterms:W3CDTF">2026-04-12T12:12:33Z</dcterms:modified>
</cp:coreProperties>
</file>